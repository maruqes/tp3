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10" r:id="rId41"/>
    <p:sldId id="286" r:id="rId42"/>
    <p:sldId id="287" r:id="rId43"/>
  </p:sldIdLst>
  <p:sldSz cx="9144000" cy="6858000" type="screen4x3"/>
  <p:notesSz cx="7099300" cy="10234613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F70F2A-D475-4DF6-87C3-DDCF1138A30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37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CEDA46-9138-441D-A035-4676853B5177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Num" idx="38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C45668-FB33-47D3-9659-05305D9C92DD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FC51-DFDB-8565-8119-02068616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D044AD1D-B500-B9BC-AF90-F3E6056C6926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68A150B9-1D09-38F1-DA78-8E3B334F6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9DFF1033-B968-E491-A155-9AB7D6D38A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9337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A092-C305-2E37-D822-072328DD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CDE22B83-E20B-9FD4-B8EA-FAC4E2EA5A8C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5EF94E02-A359-19B9-6A75-46AC35E22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BDAF44CF-28EC-FD38-52C5-49D594CDCD2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722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E4792-95A8-3E18-5581-1B64CB9C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7BF854FD-34CF-A022-4C2F-E8A44F07A118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14F8EDE7-A3C5-3903-0514-708D0F90E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8EB682BF-5C92-0E72-168E-431A6F41B27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3366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EA19-FB0F-EDC6-1BDD-3062544D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C5649955-58B2-6D16-A78B-7422BAAECD78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F09C4410-DB95-83D7-D88A-E451C745A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E8999C2D-94D2-9E7B-5264-42BFC0675C9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5551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EC9F-EB2B-5B39-FAA7-06E1BC01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A3B9C073-B7EB-393E-1B12-7C7D5A048DA5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05D6C38D-9A27-3382-0268-68C580ECB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6DCD2418-1C66-E694-2ACD-E497C9A578B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0677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183F-A8AC-41AC-2569-299BAC32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00203D9B-D1DB-2D78-F647-89D5485EC3F0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59C76023-269D-EA19-35EE-7338BA157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06465CA2-30A8-FD6C-F2BF-990A460393D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9402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9453-306A-EA32-6AF0-70625426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CC6F4A84-B8CA-6802-59F7-C091357F18F1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AFB949D9-6B8A-3923-C595-9F7BA197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2C310D46-8367-DAE9-D62E-820C329D29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4137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DA91-031E-784D-D175-FBD4A3EE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0FBDABDF-A412-DD69-0C0E-4385B173FB8D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3A17064C-46F5-DC92-F95E-14306AD46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43E455EC-B51F-BDC4-9F4D-C772FDF15B4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1902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D748-2457-6B45-1FDD-4C98DCD0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8BA7723D-FDA4-F381-707A-D44BEB386AC7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70CEA62B-DC69-A3FE-50D9-B68FCD86E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EB9DE331-2C1D-0D9D-F960-2AB90EB4F07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0947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08A5-6804-0E53-928B-EC5817A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7C164B20-A79D-5403-4063-6FC58D7FB090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C3B633B2-3C3E-85B6-117D-48342B622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C26D6108-0E32-FB95-6161-361E40555B8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4317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0B09-7B73-848A-53C8-0E1B2EAB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EA9ACC52-0DC8-CDD7-FDCE-51A63D095B6F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BAD89BBA-1C0B-A123-8027-A682FFD10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91C4DE9E-C7A1-BFDE-E4D9-65D3D1C7790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5336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02F7-F4C6-2E40-BA88-96DA5C478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1B486213-5790-BB59-3274-A3A9C5DEFA25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FF005B8C-8C3C-D5FC-2055-322F549E5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A7677992-39E3-F8C6-2BA4-C2D7E221EE8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7756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9DBD7-143D-7811-6B43-8015C852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33A1E08B-4349-1B64-9D4E-3A6185416CA7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B636C584-E9D0-D457-95A1-E49BA8FA8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2FC621C3-7BA1-C5B4-3B33-41D0DE738D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8777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1961-3560-AD88-7996-0F2E5CB8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E98DE37D-EC16-AD0D-0721-26E8CE975D86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4B4FCA5E-7AA9-C80F-738B-3ECE223EE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0CD0AB23-E93A-DA86-DDE4-A5F9401351B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0258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7AC6C-F8EF-8B5F-552E-A645570F9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6C498F7F-6638-F3A7-3676-D68C10DCB850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6AFEADB2-A95B-D114-BB39-998213E9F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1DF7E518-330D-99EC-4F99-8D665BED6FF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4786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F3B1-E175-A918-5D68-7C447826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895EFD47-6268-C759-DAD4-508EB752FECE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2AE7CB74-DE45-7C9C-AF4C-385C69B40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5A95B0A6-337D-4E15-8334-6079E1E374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56345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5976-A126-73CA-E8B5-7EBDEDB8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03026F96-354D-59AF-4796-B11C030AB9C1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8DC22079-3D15-2388-6658-A6E417356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2C046E10-AF80-C037-B4F2-FE0DC928E5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1653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D6FB-AA39-B6BD-73B6-ADA02244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26D89842-077F-F5E6-E24E-64A3AB387260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341A607D-9BB0-00B9-A54B-C32BB19B6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8DFDE37B-B02C-6B27-E270-101473926AF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1548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4122-3ECE-45E0-DD92-17E62F11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0B7CB73C-43B0-95E7-E360-E78BD00BD2CB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C4D407D1-4FBF-6811-6167-559CFF5C4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FED63DFA-C345-AB44-D698-B38714E309F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38468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AB31-FAC9-0E52-D677-CE4E56B6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A0212889-0661-8908-2087-C90EF5B12C9D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51971A14-5419-225A-5A9E-5BD9E08D8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83FBF53D-4BE4-E83B-6C95-B4D1BA43941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2127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65F1-FC88-61CA-7483-DE81CB7D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6976D51E-C6D8-58ED-0391-D2BFACC704BA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D9055C6D-45CF-D566-AD1D-52D117B56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F4F5EB83-BA7B-29BC-23C8-B80E622C3E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9213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AAFF-CEEE-FC75-549B-FD59708F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C6DCEDD3-08AA-6F08-3A60-9E6C06A2B6DC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42F7C969-E62D-B5CE-919F-06775FBD7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591BEEC9-9AB9-7E7B-6DDB-247567593E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0912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35B2-FFDE-8D95-D056-B2257975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92AA7DA1-2490-FDDF-4D05-67DF17A8A351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A3E348BD-DE6D-C12A-4CD3-C200F9C47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CB9DBDB2-259E-313C-7395-45BF76EDF1E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66967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4A84-9FC7-2B2F-A582-7C89A021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3558409A-0062-62F7-4CAA-F792D79F5E0B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8BDF9F5A-6BFA-FAB5-EFF7-2C42F412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EC50DE11-6455-99F6-C01A-5BA1B09DBC5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40366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4C99-FCC1-51D4-4848-67EDD04C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AA438CBE-9549-0909-DBBE-9610BA4988F7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5159405B-224F-BA17-414B-03561E721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BD130EEF-3E2C-CE25-C2D8-6B01999F952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57707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4B2C-8435-3DEA-81E1-BB1D5FF7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011D56EE-0F17-BB97-36E8-1CE9D07D1CD8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C6069C2F-C651-9CC3-9B65-2BFC4E03D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16361E97-3467-98DB-EE95-7EAB51C8F5B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8206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EFE5-3071-C312-07AF-10E80A22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E151333C-15BC-0157-8BF4-D1323B2DCCE3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A558E3D7-CF25-A7D2-E89B-44D2B4B4E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2D4ED92B-78B8-DCE9-3752-8A1231B5992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02835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78D6-A91B-2DAB-F1F7-D9A51AEF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83460FD4-D090-5EB1-3AAE-079C22525A16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984149E7-9401-6CE7-A065-C62689A17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E1087EFB-FB01-FFD9-6EF9-3DEDCC4A766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00983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ACAA-4BA2-2104-BD00-AD618B7ED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4ADF58EB-9895-2E7E-A408-47581E706AAC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BA56B641-B0C1-BAD3-C010-991D678BF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59D204B8-9EC9-F0DB-794F-A657E8CE03D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36091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BD1A-7F15-E3CE-963D-0057A46B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53B34A4A-12B9-5345-FFCF-375BA8EB08ED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F994198D-2412-91A6-246B-9CFBEF269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5470DC7B-CD39-D2E3-CD03-6DC74DD318B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6306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C39ED-BC1B-6154-F580-5A11117BB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5DEF2736-6217-5488-D186-8CDAB625FFD7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CDD18094-5249-E3E2-4BA3-178CEF2DC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32A807A5-94AD-823E-8FA4-2307CADD415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172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E1F0-22D9-6A78-C097-29126530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5658D236-B311-0428-4540-F4A61DCDD031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786D0D7C-C68B-4482-0E92-C039FBD6A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AF65F088-90F4-A569-4C8B-D83A7BA5862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51791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2E829-9998-0082-2530-9EDC2A741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8A5B950C-3A78-72C4-6310-8EAA852B20E7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5A2A6355-955C-E64B-AFB2-1070F6C4E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4B27216A-8854-A37A-3A88-58C12626950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5128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C8C3-9B04-6543-C164-9171BC80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1752CB0E-2443-250C-F495-13E918E81672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1AADDF29-8EC1-105B-E2D3-15CCACD19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02AD1E4D-50D6-0CE2-38EE-3BE23EE64A9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86474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D1A3C-A512-60C3-4F5E-2F5E10DA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3C2E08EA-C490-0393-1E2C-AA72D6A51027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9B2D1D6C-3CB0-4DAF-5D91-C6C7BA283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9B26742A-8549-9FE8-ADF0-954C6B3471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0676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B444-4048-260F-490F-C53DD2C0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>
            <a:extLst>
              <a:ext uri="{FF2B5EF4-FFF2-40B4-BE49-F238E27FC236}">
                <a16:creationId xmlns:a16="http://schemas.microsoft.com/office/drawing/2014/main" id="{8BDD6032-104D-8EE2-1DAA-202EFFD79F4D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19229-3A2B-4DA5-9872-24C9EB2642C3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PlaceHolder 2">
            <a:extLst>
              <a:ext uri="{FF2B5EF4-FFF2-40B4-BE49-F238E27FC236}">
                <a16:creationId xmlns:a16="http://schemas.microsoft.com/office/drawing/2014/main" id="{ED242773-AEC7-FCB7-F641-73E7BE316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3">
            <a:extLst>
              <a:ext uri="{FF2B5EF4-FFF2-40B4-BE49-F238E27FC236}">
                <a16:creationId xmlns:a16="http://schemas.microsoft.com/office/drawing/2014/main" id="{5C9DBDD0-6500-AD62-52E4-EEE440C5545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2996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0086-63B7-5734-B092-F4891144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>
            <a:extLst>
              <a:ext uri="{FF2B5EF4-FFF2-40B4-BE49-F238E27FC236}">
                <a16:creationId xmlns:a16="http://schemas.microsoft.com/office/drawing/2014/main" id="{DA3DCF14-A11C-1B10-C664-E17CC0285A02}"/>
              </a:ext>
            </a:extLst>
          </p:cNvPr>
          <p:cNvSpPr>
            <a:spLocks noGrp="1"/>
          </p:cNvSpPr>
          <p:nvPr>
            <p:ph type="sldNum" idx="65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5D06C8-8C21-4034-A20A-4026E6A86767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PlaceHolder 2">
            <a:extLst>
              <a:ext uri="{FF2B5EF4-FFF2-40B4-BE49-F238E27FC236}">
                <a16:creationId xmlns:a16="http://schemas.microsoft.com/office/drawing/2014/main" id="{A0E1CEC2-07A3-8F0A-2D10-68BD14702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3">
            <a:extLst>
              <a:ext uri="{FF2B5EF4-FFF2-40B4-BE49-F238E27FC236}">
                <a16:creationId xmlns:a16="http://schemas.microsoft.com/office/drawing/2014/main" id="{BBFA4B80-EA63-5162-8B97-E9BD9BD8FA9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45296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Num" idx="67"/>
          </p:nvPr>
        </p:nvSpPr>
        <p:spPr>
          <a:xfrm>
            <a:off x="4021200" y="9721080"/>
            <a:ext cx="3075480" cy="51084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EA5F02-01B0-4E10-A3FD-039B6DC06E3D}" type="slidenum">
              <a:rPr lang="pt-P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540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3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640" cy="4604760"/>
          </a:xfrm>
          <a:prstGeom prst="rect">
            <a:avLst/>
          </a:prstGeom>
          <a:noFill/>
          <a:ln w="0">
            <a:noFill/>
          </a:ln>
        </p:spPr>
        <p:txBody>
          <a:bodyPr lIns="94680" tIns="47520" rIns="94680" bIns="475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Tiago (acabar referencias)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3DA3DC-088C-4C68-9636-C27874F98A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PT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B8E53A-7343-4BC6-B435-F4F25C91E8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PT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64B04C-3B07-41AD-9CFD-A4BB83D2EA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18CD7C-2627-4E1B-BC12-6041FDD0B0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DFA6E1-BFDD-488B-B928-8DA5794ABF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794226-9ED9-4261-8A03-6F83A9840B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P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AA1C86-3AD4-4D6F-BFCF-41CA54C6FE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c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PT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3A8AB3-BFA9-4BE4-B3E3-D6B3B3D66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P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8CBBBD-7725-49DF-AC9E-31669B21F0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PT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PT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P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do modelo global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P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pt-P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3224FE-373A-4A65-80F7-1C7D2E9FCF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estilo do título do Modelo Global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C5C5E8-E24E-41C3-9F64-ECA87B68DC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m 4"/>
          <p:cNvPicPr/>
          <p:nvPr/>
        </p:nvPicPr>
        <p:blipFill>
          <a:blip r:embed="rId3"/>
          <a:stretch/>
        </p:blipFill>
        <p:spPr>
          <a:xfrm>
            <a:off x="0" y="-161280"/>
            <a:ext cx="10006920" cy="70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828800" y="2405880"/>
            <a:ext cx="5485680" cy="55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1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INTEGRAÇÃO DE </a:t>
            </a:r>
            <a:r>
              <a:rPr lang="pt-PT" sz="2500" b="1" u="sng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SISTEMAS</a:t>
            </a:r>
            <a:endParaRPr lang="pt-PT" sz="25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992960" y="3760200"/>
            <a:ext cx="5142960" cy="40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ubtítulo 2"/>
          <p:cNvSpPr/>
          <p:nvPr/>
        </p:nvSpPr>
        <p:spPr>
          <a:xfrm>
            <a:off x="762120" y="6394320"/>
            <a:ext cx="8190720" cy="40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1100" b="1" u="sng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Licenciatura em Engenharia Informática</a:t>
            </a:r>
            <a:r>
              <a:rPr lang="pt-PT" sz="1100" b="0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| Escola Superior de Tecnologia e Gestão| Unidade Curricular: </a:t>
            </a:r>
            <a:r>
              <a:rPr lang="pt-PT" sz="1100" b="0" u="none" strike="noStrike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  <a:ea typeface="Arial"/>
              </a:rPr>
              <a:t>INTEGRAÇÃO DE SISTEMAS </a:t>
            </a:r>
            <a:r>
              <a:rPr lang="pt-PT" sz="11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pt-PT" sz="1100" b="0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| Ano Letivo 2025/2026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m 6"/>
          <p:cNvPicPr/>
          <p:nvPr/>
        </p:nvPicPr>
        <p:blipFill>
          <a:blip r:embed="rId4"/>
          <a:stretch/>
        </p:blipFill>
        <p:spPr>
          <a:xfrm>
            <a:off x="2793960" y="392760"/>
            <a:ext cx="387216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ubtítulo 2"/>
          <p:cNvSpPr/>
          <p:nvPr/>
        </p:nvSpPr>
        <p:spPr>
          <a:xfrm>
            <a:off x="892440" y="5635800"/>
            <a:ext cx="3485520" cy="57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1100" b="0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31394 – Filipe Fernandes f.ricardo.fernandes@ipvc.pt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1100" b="0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31415 – Gonçalo Marques marquesgoncalo@ipvc.pt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ubtítulo 2"/>
          <p:cNvSpPr/>
          <p:nvPr/>
        </p:nvSpPr>
        <p:spPr>
          <a:xfrm>
            <a:off x="4953600" y="5615640"/>
            <a:ext cx="3485520" cy="57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32500" lnSpcReduction="20000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4900" b="0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Orientadores: </a:t>
            </a:r>
            <a:endParaRPr lang="pt-PT" sz="4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4900" b="0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Jorge Ribeiro , Jackson Barreto</a:t>
            </a:r>
            <a:endParaRPr lang="pt-PT" sz="4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pt-PT" sz="10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CaixaDeTexto 8"/>
          <p:cNvSpPr/>
          <p:nvPr/>
        </p:nvSpPr>
        <p:spPr>
          <a:xfrm>
            <a:off x="838080" y="1274040"/>
            <a:ext cx="9266040" cy="36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PT" sz="1800" b="1" u="sng" strike="noStrike" noProof="0" dirty="0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Licenciatura em ENGENHARIA INFORMÁTICA / </a:t>
            </a:r>
            <a:r>
              <a:rPr lang="pt-PT" sz="1800" b="1" u="sng" strike="noStrike" noProof="0" dirty="0" err="1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Degree</a:t>
            </a:r>
            <a:r>
              <a:rPr lang="pt-PT" sz="1800" b="1" u="sng" strike="noStrike" noProof="0" dirty="0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pt-PT" sz="1800" b="1" u="none" strike="noStrike" cap="all" noProof="0" dirty="0" err="1">
                <a:solidFill>
                  <a:srgbClr val="FFFF00"/>
                </a:solidFill>
                <a:effectLst/>
                <a:uFillTx/>
                <a:latin typeface="Calibri"/>
                <a:ea typeface="Arial"/>
              </a:rPr>
              <a:t>Informatics</a:t>
            </a:r>
            <a:r>
              <a:rPr lang="pt-PT" sz="1800" b="1" u="none" strike="noStrike" cap="all" noProof="0" dirty="0">
                <a:solidFill>
                  <a:srgbClr val="FFFF00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pt-PT" sz="1800" b="1" u="none" strike="noStrike" cap="all" noProof="0" dirty="0" err="1">
                <a:solidFill>
                  <a:srgbClr val="FFFF00"/>
                </a:solidFill>
                <a:effectLst/>
                <a:uFillTx/>
                <a:latin typeface="Calibri"/>
                <a:ea typeface="Arial"/>
              </a:rPr>
              <a:t>engineering</a:t>
            </a: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ítulo 1"/>
          <p:cNvSpPr/>
          <p:nvPr/>
        </p:nvSpPr>
        <p:spPr>
          <a:xfrm>
            <a:off x="1981080" y="3267720"/>
            <a:ext cx="548568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2500" b="1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Trabalho Prático 3</a:t>
            </a:r>
            <a:endParaRPr lang="pt-PT" sz="25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Box 10"/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1"/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2F011D47-06C3-4842-8230-877854A371CB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Box 13"/>
          <p:cNvSpPr/>
          <p:nvPr/>
        </p:nvSpPr>
        <p:spPr>
          <a:xfrm>
            <a:off x="306360" y="557280"/>
            <a:ext cx="6981120" cy="3992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 Índice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Marcador de Posição de Conteúdo 2"/>
          <p:cNvSpPr/>
          <p:nvPr/>
        </p:nvSpPr>
        <p:spPr>
          <a:xfrm>
            <a:off x="457200" y="1219320"/>
            <a:ext cx="822888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pt-PT" sz="18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Objetivos</a:t>
            </a: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pt-PT" dirty="0" err="1">
                <a:solidFill>
                  <a:schemeClr val="dk1"/>
                </a:solidFill>
                <a:latin typeface="Arial"/>
              </a:rPr>
              <a:t>Tech</a:t>
            </a:r>
            <a:r>
              <a:rPr lang="pt-PT" dirty="0">
                <a:solidFill>
                  <a:schemeClr val="dk1"/>
                </a:solidFill>
                <a:latin typeface="Arial"/>
              </a:rPr>
              <a:t> </a:t>
            </a:r>
            <a:r>
              <a:rPr lang="pt-PT" dirty="0" err="1">
                <a:solidFill>
                  <a:schemeClr val="dk1"/>
                </a:solidFill>
                <a:latin typeface="Arial"/>
              </a:rPr>
              <a:t>Stack</a:t>
            </a: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pt-PT" sz="18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3.  Arquitetura</a:t>
            </a: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pt-PT" sz="18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4. </a:t>
            </a:r>
            <a:r>
              <a:rPr lang="pt-PT" sz="1800" b="0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</a:rPr>
              <a:t>Crawler</a:t>
            </a: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pt-PT" dirty="0">
                <a:solidFill>
                  <a:schemeClr val="dk1"/>
                </a:solidFill>
                <a:latin typeface="Arial"/>
              </a:rPr>
              <a:t>5. Processador de dados</a:t>
            </a:r>
          </a:p>
          <a:p>
            <a:pPr defTabSz="914400">
              <a:lnSpc>
                <a:spcPct val="150000"/>
              </a:lnSpc>
            </a:pPr>
            <a:r>
              <a:rPr lang="pt-PT" sz="18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6. XML </a:t>
            </a:r>
            <a:r>
              <a:rPr lang="pt-PT" sz="1800" b="0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</a:rPr>
              <a:t>Service</a:t>
            </a: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pt-PT" sz="18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8. Conclusão</a:t>
            </a: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pt-PT" sz="18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9. Bibliografia / Referências</a:t>
            </a: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spcBef>
                <a:spcPts val="400"/>
              </a:spcBef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m 6"/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m 8"/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magem 12"/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ectângulo 19"/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m 4"/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Subtítulo 2"/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Box 21"/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/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/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/>
          <p:cNvSpPr/>
          <p:nvPr/>
        </p:nvSpPr>
        <p:spPr>
          <a:xfrm>
            <a:off x="306360" y="557280"/>
            <a:ext cx="6981120" cy="394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1 - Objetivos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Marcador de Posição de Conteúdo 2"/>
          <p:cNvSpPr/>
          <p:nvPr/>
        </p:nvSpPr>
        <p:spPr>
          <a:xfrm>
            <a:off x="457200" y="1219320"/>
            <a:ext cx="822888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PT" sz="18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Desenvolver uma pipeline composta por diversos serviços que engloba desde a extração de dados até à sua apresentação</a:t>
            </a: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extração de dados(</a:t>
            </a:r>
            <a:r>
              <a:rPr lang="pt-PT" b="0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</a:rPr>
              <a:t>Crawler</a:t>
            </a: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pt-PT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PT" noProof="0" dirty="0">
                <a:solidFill>
                  <a:schemeClr val="dk1"/>
                </a:solidFill>
                <a:latin typeface="Arial"/>
              </a:rPr>
              <a:t>processar os dados e agregar informação de uma </a:t>
            </a:r>
            <a:r>
              <a:rPr lang="pt-PT" noProof="0" dirty="0" err="1">
                <a:solidFill>
                  <a:schemeClr val="dk1"/>
                </a:solidFill>
                <a:latin typeface="Arial"/>
              </a:rPr>
              <a:t>api</a:t>
            </a:r>
            <a:r>
              <a:rPr lang="pt-PT" noProof="0" dirty="0">
                <a:solidFill>
                  <a:schemeClr val="dk1"/>
                </a:solidFill>
                <a:latin typeface="Arial"/>
              </a:rPr>
              <a:t> externa (</a:t>
            </a:r>
            <a:r>
              <a:rPr lang="pt-PT" noProof="0" dirty="0" err="1">
                <a:solidFill>
                  <a:schemeClr val="dk1"/>
                </a:solidFill>
                <a:latin typeface="Arial"/>
              </a:rPr>
              <a:t>Processadore</a:t>
            </a:r>
            <a:r>
              <a:rPr lang="pt-PT" noProof="0" dirty="0">
                <a:solidFill>
                  <a:schemeClr val="dk1"/>
                </a:solidFill>
                <a:latin typeface="Arial"/>
              </a:rPr>
              <a:t> de dados)</a:t>
            </a:r>
          </a:p>
          <a:p>
            <a:pPr marL="743040" lvl="1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construir o </a:t>
            </a:r>
            <a:r>
              <a:rPr lang="pt-PT" b="0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</a:rPr>
              <a:t>xml</a:t>
            </a: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 , validar com o </a:t>
            </a:r>
            <a:r>
              <a:rPr lang="pt-PT" b="0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</a:rPr>
              <a:t>schema</a:t>
            </a: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 e inserir na base de dados(XML </a:t>
            </a:r>
            <a:r>
              <a:rPr lang="pt-PT" b="0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</a:rPr>
              <a:t>Service</a:t>
            </a: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pt-PT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Expor as consultas sobre os dados armazenados(BI </a:t>
            </a:r>
            <a:r>
              <a:rPr lang="pt-PT" b="0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</a:rPr>
              <a:t>service</a:t>
            </a:r>
            <a:r>
              <a:rPr lang="pt-PT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</a:p>
          <a:p>
            <a:pPr marL="743040" lvl="1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endParaRPr lang="pt-PT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spcBef>
                <a:spcPts val="400"/>
              </a:spcBef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m 6"/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/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/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/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/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83829E3C-906F-EF0D-73B4-3FE70EE4B54D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AF5527-2C3A-EC67-085C-E3DB33DCD090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BDD61-6011-01B3-60D7-6216127A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3360EFAE-5945-7904-2843-74CB7D971D83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85866BAE-34F2-C56B-0767-8CD15CA15ABE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4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74B3A1E0-309E-C2E9-6FD5-43BB1D222F0D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2 –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Tech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Stack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9BAC3F64-57FF-A14A-CE89-9297C403D3C9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Marcador de Posição de Conteúdo 2">
            <a:extLst>
              <a:ext uri="{FF2B5EF4-FFF2-40B4-BE49-F238E27FC236}">
                <a16:creationId xmlns:a16="http://schemas.microsoft.com/office/drawing/2014/main" id="{F332F32C-D236-7823-E09A-7A0309183CDA}"/>
              </a:ext>
            </a:extLst>
          </p:cNvPr>
          <p:cNvSpPr/>
          <p:nvPr/>
        </p:nvSpPr>
        <p:spPr>
          <a:xfrm>
            <a:off x="457200" y="1219320"/>
            <a:ext cx="822888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50000"/>
              </a:lnSpc>
            </a:pP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spcBef>
                <a:spcPts val="400"/>
              </a:spcBef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4D180E11-EB9D-A508-0B31-66D8005FEFE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3FC60B53-049E-E979-D6FC-86BC3DC0A64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7B33014B-803C-DDF8-60CA-5264C8BE0F6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3EEEF6FB-C1E2-99F1-E042-9D97C7A3BB01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BD7E7A3D-7D77-9CB8-D7DF-E5247048BBAB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53E301B1-93E0-EAC8-99B9-C979F0775E3A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0F5FD0-A643-2883-A33A-C1E722D2FA32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6" name="Picture 2" descr="Download Python Logo in SVG Vector or PNG File Format - Logo.wine">
            <a:extLst>
              <a:ext uri="{FF2B5EF4-FFF2-40B4-BE49-F238E27FC236}">
                <a16:creationId xmlns:a16="http://schemas.microsoft.com/office/drawing/2014/main" id="{1D9F32A3-0247-80B1-EBF9-0FFBB23DA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68" y="799680"/>
            <a:ext cx="2733644" cy="182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Golang and how to install it | by Satyendra Kannaujiya |  DataDrivenInvestor">
            <a:extLst>
              <a:ext uri="{FF2B5EF4-FFF2-40B4-BE49-F238E27FC236}">
                <a16:creationId xmlns:a16="http://schemas.microsoft.com/office/drawing/2014/main" id="{BD83B072-0F4E-7260-9A39-7439983F5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950" y="1346039"/>
            <a:ext cx="2761488" cy="121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5818473-4404-EDCE-C1A9-9C958D4F9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779" y="4982437"/>
            <a:ext cx="1040773" cy="104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D50716C-7D70-95B4-F0BB-E2632523A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478" y="1799578"/>
            <a:ext cx="3817472" cy="159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ownload Amazon Web Services (AWS) Logo in SVG Vector or PNG File Format -  Logo.wine">
            <a:extLst>
              <a:ext uri="{FF2B5EF4-FFF2-40B4-BE49-F238E27FC236}">
                <a16:creationId xmlns:a16="http://schemas.microsoft.com/office/drawing/2014/main" id="{F0992BED-FD85-69FD-3653-81A3B8388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992" y="3706968"/>
            <a:ext cx="2761488" cy="184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1C4CBB-1D07-09EA-F840-404BFC2F8C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4760" y="5489483"/>
            <a:ext cx="2372202" cy="37635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8082A6B-054B-41D2-CFF4-0E30E18EE4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41693" y="5431750"/>
            <a:ext cx="1185171" cy="511779"/>
          </a:xfrm>
          <a:prstGeom prst="rect">
            <a:avLst/>
          </a:prstGeom>
        </p:spPr>
      </p:pic>
      <p:pic>
        <p:nvPicPr>
          <p:cNvPr id="1038" name="Picture 14" descr="ícone de Postgresql simples a marca logo">
            <a:extLst>
              <a:ext uri="{FF2B5EF4-FFF2-40B4-BE49-F238E27FC236}">
                <a16:creationId xmlns:a16="http://schemas.microsoft.com/office/drawing/2014/main" id="{81F906AC-513A-B14C-5556-26A62D4A0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89" y="2622109"/>
            <a:ext cx="1115455" cy="111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1615CB78-70BF-1445-503A-DC0989655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68" y="3761547"/>
            <a:ext cx="1707642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gRPC">
            <a:extLst>
              <a:ext uri="{FF2B5EF4-FFF2-40B4-BE49-F238E27FC236}">
                <a16:creationId xmlns:a16="http://schemas.microsoft.com/office/drawing/2014/main" id="{37826230-100E-74EA-BA82-7E4011625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378" y="3082029"/>
            <a:ext cx="922522" cy="922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ML - Wikipedia">
            <a:extLst>
              <a:ext uri="{FF2B5EF4-FFF2-40B4-BE49-F238E27FC236}">
                <a16:creationId xmlns:a16="http://schemas.microsoft.com/office/drawing/2014/main" id="{3004BD8C-558F-3845-A0F2-5E88CF357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952" y="4964946"/>
            <a:ext cx="496893" cy="496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21E75424-4E0C-7922-E0B6-D507CF916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900" y="5522655"/>
            <a:ext cx="362450" cy="51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GraphQL Logo &amp; Brand Guidelines | GraphQL">
            <a:extLst>
              <a:ext uri="{FF2B5EF4-FFF2-40B4-BE49-F238E27FC236}">
                <a16:creationId xmlns:a16="http://schemas.microsoft.com/office/drawing/2014/main" id="{A32AB385-D602-8A61-D8DE-615064A9E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76" y="4758579"/>
            <a:ext cx="1280831" cy="140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FEE2E02-0533-F870-77C5-C46451A2DF2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51385" y="4568052"/>
            <a:ext cx="1162212" cy="381053"/>
          </a:xfrm>
          <a:prstGeom prst="rect">
            <a:avLst/>
          </a:prstGeom>
        </p:spPr>
      </p:pic>
      <p:pic>
        <p:nvPicPr>
          <p:cNvPr id="1050" name="Picture 26" descr="Docker - ícones de marcas e logotipos grátis">
            <a:extLst>
              <a:ext uri="{FF2B5EF4-FFF2-40B4-BE49-F238E27FC236}">
                <a16:creationId xmlns:a16="http://schemas.microsoft.com/office/drawing/2014/main" id="{874E1A20-EB2C-B5C4-F3DD-6E896388E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624" y="2725363"/>
            <a:ext cx="691896" cy="69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0F4E136-5DCD-F4FE-055C-3C4713763F7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35244" y="2835052"/>
            <a:ext cx="400106" cy="419158"/>
          </a:xfrm>
          <a:prstGeom prst="rect">
            <a:avLst/>
          </a:prstGeom>
        </p:spPr>
      </p:pic>
      <p:pic>
        <p:nvPicPr>
          <p:cNvPr id="1052" name="Picture 28" descr="ícone de Rabbitmq logo">
            <a:extLst>
              <a:ext uri="{FF2B5EF4-FFF2-40B4-BE49-F238E27FC236}">
                <a16:creationId xmlns:a16="http://schemas.microsoft.com/office/drawing/2014/main" id="{668711C2-B119-A54C-6168-8A76DB7AB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228" y="1000784"/>
            <a:ext cx="2665793" cy="133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16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D158-3992-4862-1DEE-F95E631C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84736FC1-9CCF-7191-0795-A9E6D74B5AC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58EC1AB5-194A-AFD7-EFBF-14C0EA43D61A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5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19C18E18-1EA7-175C-8C73-97C5BB0D9F13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3 – Arquitetura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245E1D60-1B31-248C-42A6-46B7312E4565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242B2229-CE43-3FF7-FD74-09743401E84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2257D5CA-D3EE-6985-0EBD-D6A75EBB7A9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78DC914F-8006-33FD-AB4C-D956C062A60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57C6D911-DBE5-149F-7A90-7DFEB154CAE0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BF912B35-577E-40D1-9E5B-FB562AB78543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1CF71DE1-6A48-F6AB-CA8F-8F74B642D710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A2916D-099F-C2E4-C729-22C6ABE950E1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8F040951-C63E-19B2-C294-B4E36767AF21}"/>
              </a:ext>
            </a:extLst>
          </p:cNvPr>
          <p:cNvSpPr/>
          <p:nvPr/>
        </p:nvSpPr>
        <p:spPr>
          <a:xfrm>
            <a:off x="457200" y="1219320"/>
            <a:ext cx="822888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743040" lvl="1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endParaRPr lang="pt-PT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spcBef>
                <a:spcPts val="400"/>
              </a:spcBef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m 6" descr="Uma imagem com texto, captura de ecrã, diagrama, Tipo de letra&#10;&#10;Os conteúdos gerados por IA podem estar incorretos.">
            <a:extLst>
              <a:ext uri="{FF2B5EF4-FFF2-40B4-BE49-F238E27FC236}">
                <a16:creationId xmlns:a16="http://schemas.microsoft.com/office/drawing/2014/main" id="{6B5CF5CF-86A3-0ECB-0266-EDD3F1249D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41837"/>
            <a:ext cx="9144000" cy="4374326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025A99E-82B1-3FB6-58BD-7C550E9E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562" y="3429000"/>
            <a:ext cx="830516" cy="11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CC7FCB96-64BA-A4FF-90D4-68DB924F9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258" y="3429000"/>
            <a:ext cx="830516" cy="11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103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53B9-91B5-A907-1FEB-3E55FAC2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55EEA6B7-793B-5649-D860-719C77C2BB46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2E184DA9-E042-17F2-8482-92748CE63AD9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6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9AAF6704-809B-FEB0-4F93-DFD48ADA215B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4 –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Crawler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C244E682-D13D-69C0-0E35-FBD1422DBE04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5C42AB82-CD1F-F539-3285-68CB318100C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582ABE9E-1FE2-E984-74F8-D36604AD394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28DA2F84-DA81-13F4-9483-BF5AD4019DB7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EEDB1987-08C9-58C1-94C8-32E51D9E8D82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DE5180D3-446D-DB54-E24D-459C442C39A1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BCDABAF-D3E9-BD25-EEFF-CE618EE6CAA2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47F0C5-DB8B-B4F9-3769-95B9B25B0E1A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316516D4-9BB4-56E0-6A94-8034F23D759A}"/>
              </a:ext>
            </a:extLst>
          </p:cNvPr>
          <p:cNvSpPr/>
          <p:nvPr/>
        </p:nvSpPr>
        <p:spPr>
          <a:xfrm>
            <a:off x="457200" y="1219320"/>
            <a:ext cx="822888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lvl="1" algn="just">
              <a:lnSpc>
                <a:spcPct val="150000"/>
              </a:lnSpc>
              <a:buClr>
                <a:srgbClr val="000000"/>
              </a:buClr>
            </a:pP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crawler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foi desenvolvido em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e é responsável pela primeira extração de dados e gerar o primeiro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csv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que é inserido no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bucket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do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supabase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</a:p>
          <a:p>
            <a:pPr lvl="1" algn="just">
              <a:lnSpc>
                <a:spcPct val="150000"/>
              </a:lnSpc>
              <a:buClr>
                <a:srgbClr val="000000"/>
              </a:buClr>
            </a:pP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Após finalizar 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scrap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crawler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envia uma mensagem para a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queue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do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RabbitMQ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com o nome do ficheiro gerado. Esta quele é utilizada depois pelo processador de dados.</a:t>
            </a:r>
          </a:p>
          <a:p>
            <a:pPr defTabSz="914400">
              <a:lnSpc>
                <a:spcPct val="150000"/>
              </a:lnSpc>
            </a:pPr>
            <a:endParaRPr lang="pt-PT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spcBef>
                <a:spcPts val="400"/>
              </a:spcBef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749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B0F15-B302-5174-FCEF-14E3A961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38C7A21E-300E-3A89-C8DD-3C04E1EDD29B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DE47FB5D-880D-C904-E785-238F3F1A0785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7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95B5E885-B711-6AFC-336A-1CF3CF37B955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4 –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Crawler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BDED0157-EA02-95AB-D56A-96794573EC88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DEDDCB0D-3876-44EB-9B0C-32FB528C7C2C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EA05086-3E80-D70E-0A6D-A1BCE33C7AE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DC8BCEBD-2FE0-B0BA-E0BE-8DAA9E1F295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4E892642-A977-AA66-AC3B-D599A21F23E7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E94743F4-81E9-73C7-CEA6-3D63A2983BAE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4E7E90D5-CDD6-E8CC-B99B-A35A3092C1B8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4B2DE-2757-BCB0-C66F-2F000881C32A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0E3B4748-8933-9782-E989-4B7C8873EC7F}"/>
              </a:ext>
            </a:extLst>
          </p:cNvPr>
          <p:cNvSpPr/>
          <p:nvPr/>
        </p:nvSpPr>
        <p:spPr>
          <a:xfrm>
            <a:off x="457200" y="1219320"/>
            <a:ext cx="822888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Para facilitar testes foi definido uma variável </a:t>
            </a:r>
            <a:r>
              <a:rPr lang="pt-PT" sz="18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limit_books</a:t>
            </a: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que permite escolher o total de livros a dar </a:t>
            </a:r>
            <a:r>
              <a:rPr lang="pt-PT" sz="18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scrap</a:t>
            </a: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. Quando o valor é 0 o </a:t>
            </a:r>
            <a:r>
              <a:rPr lang="pt-PT" sz="18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scrap</a:t>
            </a: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é total.</a:t>
            </a:r>
            <a:endParaRPr lang="pt-PT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sz="2000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pt-PT" sz="20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Foi criado um </a:t>
            </a:r>
            <a:r>
              <a:rPr lang="pt-PT" sz="20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mapper</a:t>
            </a:r>
            <a:r>
              <a:rPr lang="pt-PT" sz="20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para ajudar a mapear os </a:t>
            </a:r>
          </a:p>
          <a:p>
            <a:pPr defTabSz="914400">
              <a:lnSpc>
                <a:spcPct val="150000"/>
              </a:lnSpc>
            </a:pPr>
            <a:r>
              <a:rPr lang="pt-PT" sz="2000" dirty="0">
                <a:solidFill>
                  <a:srgbClr val="000000"/>
                </a:solidFill>
                <a:latin typeface="Arial"/>
              </a:rPr>
              <a:t>rótulos que não se encontram normalizados </a:t>
            </a:r>
          </a:p>
          <a:p>
            <a:pPr defTabSz="914400">
              <a:lnSpc>
                <a:spcPct val="150000"/>
              </a:lnSpc>
            </a:pPr>
            <a:r>
              <a:rPr lang="pt-PT" sz="20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no site.</a:t>
            </a: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32C467-0805-0D76-2171-7D52D7677F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740" y="2180852"/>
            <a:ext cx="6801799" cy="733527"/>
          </a:xfrm>
          <a:prstGeom prst="rect">
            <a:avLst/>
          </a:prstGeom>
        </p:spPr>
      </p:pic>
      <p:pic>
        <p:nvPicPr>
          <p:cNvPr id="8" name="Imagem 7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009DAB78-E261-AF5C-1E38-D189A86BC7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7157" y="3139344"/>
            <a:ext cx="2041123" cy="304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03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8AE7-BEB1-0182-1264-34528857C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254C74E5-2240-825B-B3FE-86A2086F7675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D3C1D486-03C1-5C60-7EA5-75E4FB38E7BE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0861CB66-B497-A2FF-976F-935A6F3B9640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4 –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Crawler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273BF37-6FB0-E312-A37F-1B083A450643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5676D45F-0883-2478-EF53-F28156DEE97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85F37EB-4340-EB7E-7351-9BA0FF6CD26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DAB650D9-352D-9F75-E555-F6E3609A945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156FD82D-56D2-E398-8260-F2AE935FB461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809EC337-D26F-7B12-D9B4-5EC2613348EA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EDAB3723-38DA-5393-9E19-DA3287FEA4C5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91F7CB-8CA7-01B7-C21A-5FEF9157D63D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AB55D5AD-69E4-3CF4-1195-00DE76FC2651}"/>
              </a:ext>
            </a:extLst>
          </p:cNvPr>
          <p:cNvSpPr/>
          <p:nvPr/>
        </p:nvSpPr>
        <p:spPr>
          <a:xfrm>
            <a:off x="457200" y="1219320"/>
            <a:ext cx="822888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A função “</a:t>
            </a:r>
            <a:r>
              <a:rPr lang="pt-PT" sz="18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extract_product_links</a:t>
            </a: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” extrai todos os links, cada link corresponde a um livro, presente no </a:t>
            </a:r>
            <a:r>
              <a:rPr lang="pt-PT" sz="18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url</a:t>
            </a: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principal definido para web </a:t>
            </a:r>
            <a:r>
              <a:rPr lang="pt-PT" sz="18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scrap</a:t>
            </a:r>
            <a:r>
              <a:rPr lang="pt-PT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</a:p>
          <a:p>
            <a:pPr defTabSz="914400">
              <a:lnSpc>
                <a:spcPct val="150000"/>
              </a:lnSpc>
            </a:pPr>
            <a:endParaRPr lang="pt-PT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pt-PT" dirty="0">
                <a:solidFill>
                  <a:srgbClr val="000000"/>
                </a:solidFill>
                <a:latin typeface="Arial"/>
              </a:rPr>
              <a:t>A função ordena os links e devolve apenas os valores definidos na variável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limit_books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defTabSz="914400">
              <a:lnSpc>
                <a:spcPct val="150000"/>
              </a:lnSpc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pt-PT" sz="2000" dirty="0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m 6" descr="Uma imagem com texto, captura de ecrã, software, Tipo de letra&#10;&#10;Os conteúdos gerados por IA podem estar incorretos.">
            <a:extLst>
              <a:ext uri="{FF2B5EF4-FFF2-40B4-BE49-F238E27FC236}">
                <a16:creationId xmlns:a16="http://schemas.microsoft.com/office/drawing/2014/main" id="{4C569270-B994-B451-E9E1-FEBE611E5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8549" y="2070633"/>
            <a:ext cx="5247475" cy="2126730"/>
          </a:xfrm>
          <a:prstGeom prst="rect">
            <a:avLst/>
          </a:prstGeom>
        </p:spPr>
      </p:pic>
      <p:pic>
        <p:nvPicPr>
          <p:cNvPr id="10" name="Imagem 9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A7064BC1-B5CD-C2E9-3194-E8DBE8CD66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5648" y="4895670"/>
            <a:ext cx="5020376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4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639A-6B46-CB98-3718-8A75EC7B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B27BFFDB-1565-C97D-E8BA-47A90B42D7A6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9EA1F217-BD33-DEEC-4B5A-92B5FC4C3B7D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9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1F6FF536-685D-BF26-CF53-D30D45D6363C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4 –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Crawler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50D2AC33-B1AA-8CC4-5149-46771AF20673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F86A874F-8DE5-370B-5738-3B28B14AF75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9857638D-CD11-96AF-4D2B-72CC6059062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3A4AA2B4-6133-CE06-161D-9E7781376A5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D56D26EE-A8F8-92F3-BE38-FF4200FF3153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4E635DD1-63D3-C799-E96D-3DC282B9EBF3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0FA1B5C3-1473-FFF7-D22C-5B56E0338E06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81085D-0BB6-C384-7405-F3E92BF8443D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89527E81-DEF3-3EDB-6311-6FD355A0A512}"/>
              </a:ext>
            </a:extLst>
          </p:cNvPr>
          <p:cNvSpPr/>
          <p:nvPr/>
        </p:nvSpPr>
        <p:spPr>
          <a:xfrm>
            <a:off x="-201168" y="1219320"/>
            <a:ext cx="4773168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2000" dirty="0">
                <a:solidFill>
                  <a:srgbClr val="000000"/>
                </a:solidFill>
                <a:latin typeface="Arial"/>
              </a:rPr>
              <a:t>A função extrai o titulo do &lt;h1&gt; e utiliza a função auxiliar “</a:t>
            </a:r>
            <a:r>
              <a:rPr lang="pt-PT" sz="2000" dirty="0" err="1">
                <a:solidFill>
                  <a:srgbClr val="000000"/>
                </a:solidFill>
                <a:latin typeface="Arial"/>
              </a:rPr>
              <a:t>extract_detail_pairs</a:t>
            </a:r>
            <a:r>
              <a:rPr lang="pt-PT" sz="2000" dirty="0">
                <a:solidFill>
                  <a:srgbClr val="000000"/>
                </a:solidFill>
                <a:latin typeface="Arial"/>
              </a:rPr>
              <a:t>” para extrair os restante campos através do </a:t>
            </a:r>
            <a:r>
              <a:rPr lang="pt-PT" sz="2000" dirty="0" err="1">
                <a:solidFill>
                  <a:srgbClr val="000000"/>
                </a:solidFill>
                <a:latin typeface="Arial"/>
              </a:rPr>
              <a:t>mapper</a:t>
            </a:r>
            <a:r>
              <a:rPr lang="pt-PT" sz="2000" dirty="0">
                <a:solidFill>
                  <a:srgbClr val="000000"/>
                </a:solidFill>
                <a:latin typeface="Arial"/>
              </a:rPr>
              <a:t> definido inicialmente.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Imagem 5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0804A006-BFEA-6A6A-E0D8-77F5CCBD07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9977" y="1405237"/>
            <a:ext cx="4270343" cy="336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45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DCDFE-5F05-BF0A-0A41-B801872DF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09B55D9A-31D9-F1D6-9531-CA1B2D3E746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A43FEEDD-8EC0-06B5-3F2A-D16B1322DD25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7A33BFFB-612C-C811-F99A-EBF3CEE83D0A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4 –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Crawler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24C0B30-4953-4A8D-B514-8C2D63E4E2F8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88F492C2-FA68-118D-4B9F-2ABBF4D7476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9366480F-900E-80C9-7D9D-26E64219AE6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2C5B8342-2EF0-F695-4FC6-B7C7768F2A00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248FE663-FBAF-AAB2-A3FA-88E4E6710200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EB25A64B-F492-F3FD-A8EE-DD02D678EB19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9F201E7E-5D5F-74F4-730E-04447F07FC0E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D52FB1-2CDF-7964-7DAE-412358D5DE1B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10405BE4-9088-F9A7-38E0-44EF0BB84189}"/>
              </a:ext>
            </a:extLst>
          </p:cNvPr>
          <p:cNvSpPr/>
          <p:nvPr/>
        </p:nvSpPr>
        <p:spPr>
          <a:xfrm>
            <a:off x="306360" y="1219320"/>
            <a:ext cx="8635752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2000" dirty="0">
                <a:solidFill>
                  <a:srgbClr val="000000"/>
                </a:solidFill>
                <a:latin typeface="Arial"/>
              </a:rPr>
              <a:t>Após extrair todos os livros as informações são escritas para um ficheiro </a:t>
            </a:r>
            <a:r>
              <a:rPr lang="pt-PT" sz="2000" dirty="0" err="1">
                <a:solidFill>
                  <a:srgbClr val="000000"/>
                </a:solidFill>
                <a:latin typeface="Arial"/>
              </a:rPr>
              <a:t>csv</a:t>
            </a:r>
            <a:r>
              <a:rPr lang="pt-PT" sz="2000" dirty="0">
                <a:solidFill>
                  <a:srgbClr val="000000"/>
                </a:solidFill>
                <a:latin typeface="Arial"/>
              </a:rPr>
              <a:t> e este ficheiro é enviado para o s3 </a:t>
            </a:r>
            <a:r>
              <a:rPr lang="pt-PT" sz="2000" dirty="0" err="1">
                <a:solidFill>
                  <a:srgbClr val="000000"/>
                </a:solidFill>
                <a:latin typeface="Arial"/>
              </a:rPr>
              <a:t>bucket</a:t>
            </a:r>
            <a:r>
              <a:rPr lang="pt-PT" sz="2000" dirty="0">
                <a:solidFill>
                  <a:srgbClr val="000000"/>
                </a:solidFill>
                <a:latin typeface="Arial"/>
              </a:rPr>
              <a:t> em </a:t>
            </a:r>
            <a:r>
              <a:rPr lang="pt-PT" sz="2000" dirty="0" err="1">
                <a:solidFill>
                  <a:srgbClr val="000000"/>
                </a:solidFill>
                <a:latin typeface="Arial"/>
              </a:rPr>
              <a:t>chunks</a:t>
            </a:r>
            <a:r>
              <a:rPr lang="pt-PT" sz="2000" dirty="0">
                <a:solidFill>
                  <a:srgbClr val="000000"/>
                </a:solidFill>
                <a:latin typeface="Arial"/>
              </a:rPr>
              <a:t>.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m 6" descr="Uma imagem com texto, captura de ecrã, Tipo de letra, file&#10;&#10;Os conteúdos gerados por IA podem estar incorretos.">
            <a:extLst>
              <a:ext uri="{FF2B5EF4-FFF2-40B4-BE49-F238E27FC236}">
                <a16:creationId xmlns:a16="http://schemas.microsoft.com/office/drawing/2014/main" id="{5D2397FC-A9B0-76F8-6F5F-2F26E8DDDE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154" y="2881236"/>
            <a:ext cx="4953691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9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2F086-7971-EE5A-7A43-A9AC2515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01B439CB-4A62-6084-0858-94BC7CE08FE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F59DC86F-905F-8BE0-8183-492003BDCB91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11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6D2289D8-E3F7-6A8A-2935-39B242EBCC3E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4 –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Crawler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37AA4034-9BFA-1E77-554B-395B913F05DE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D137FDB2-EBFE-749B-ACBC-9311B0F2A15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95A8C74E-CF02-E990-E7E3-1080B986C99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68CA58F6-9CEF-6289-5ED0-08F2B8DFE7ED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A2AE762D-C1F5-A32F-413E-77AE153D4277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1CF0D593-4E2D-AF0C-E59A-8054669FAAA0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521374AD-CE63-5758-7C65-7260F11E7028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72B62-EED5-8B7A-A4CA-9B913E2B6ED2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EA84E854-1044-E462-4DB8-958E2D823048}"/>
              </a:ext>
            </a:extLst>
          </p:cNvPr>
          <p:cNvSpPr/>
          <p:nvPr/>
        </p:nvSpPr>
        <p:spPr>
          <a:xfrm>
            <a:off x="306360" y="1219320"/>
            <a:ext cx="8635752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2000" dirty="0">
                <a:solidFill>
                  <a:srgbClr val="000000"/>
                </a:solidFill>
                <a:latin typeface="Arial"/>
              </a:rPr>
              <a:t>O envio por em </a:t>
            </a:r>
            <a:r>
              <a:rPr lang="pt-PT" sz="2000" dirty="0" err="1">
                <a:solidFill>
                  <a:srgbClr val="000000"/>
                </a:solidFill>
                <a:latin typeface="Arial"/>
              </a:rPr>
              <a:t>chunks</a:t>
            </a:r>
            <a:r>
              <a:rPr lang="pt-PT" sz="2000" dirty="0">
                <a:solidFill>
                  <a:srgbClr val="000000"/>
                </a:solidFill>
                <a:latin typeface="Arial"/>
              </a:rPr>
              <a:t> é feito automaticamente pela função </a:t>
            </a:r>
            <a:r>
              <a:rPr lang="pt-PT" sz="2000" dirty="0" err="1">
                <a:solidFill>
                  <a:srgbClr val="000000"/>
                </a:solidFill>
                <a:latin typeface="Arial"/>
              </a:rPr>
              <a:t>upload_file</a:t>
            </a:r>
            <a:r>
              <a:rPr lang="pt-PT" sz="2000" dirty="0">
                <a:solidFill>
                  <a:srgbClr val="000000"/>
                </a:solidFill>
                <a:latin typeface="Arial"/>
              </a:rPr>
              <a:t> disponível na biblioteca “boto3”.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Imagem 5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8D496177-249F-AB41-93C2-02B9FEAAD9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268" y="2803261"/>
            <a:ext cx="4610743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65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B156E-7539-8625-5AAC-2DB12E99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93247FF8-8164-E75B-5DEC-07FEF05370F9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F4D60AF2-CF15-21C1-6B0B-EF15A3696E88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12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DC61BF17-67EF-354E-43C0-1F1E89C156B1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E0BAAB0-1B15-6818-0755-97931C0C1FA6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EFBF932B-16F6-0DAB-2DB1-CA8D545FDB3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6D5D7E34-86C0-31B7-0CC1-D7BF9B933A4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98CA915E-4F9B-6BC5-571F-2EBEB2B30CB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FEAC4D81-811B-BE97-36CD-CD187EDF5D58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92842EAA-5F50-1AF3-FBA0-21208E1B528C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23B503C5-7ACE-73DB-9E7E-A55E32401708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DBA5B0-EEA4-4F86-CB25-E72DA9550C27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8B1DDAD-51D7-D8C9-86FD-D91230D98B0F}"/>
              </a:ext>
            </a:extLst>
          </p:cNvPr>
          <p:cNvSpPr/>
          <p:nvPr/>
        </p:nvSpPr>
        <p:spPr>
          <a:xfrm>
            <a:off x="306360" y="1219320"/>
            <a:ext cx="8635752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O processador de dados foi desenvolvido em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Go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e é o responsável por ler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csv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produzido em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streaming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diretamente da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supabase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e enriquecer usando a API do Google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Books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com base no ISBN.</a:t>
            </a:r>
          </a:p>
          <a:p>
            <a:pPr marL="914400" indent="-457200" algn="just">
              <a:lnSpc>
                <a:spcPct val="200000"/>
              </a:lnSpc>
              <a:spcBef>
                <a:spcPts val="400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“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rabbitmq.ConsumirCoelho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()” conecta à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queue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e fica à espera de novos dados, caso estejam mensagens em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queue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anteriormente processa.</a:t>
            </a:r>
          </a:p>
          <a:p>
            <a:pPr marL="914400" indent="-457200" algn="just">
              <a:lnSpc>
                <a:spcPct val="200000"/>
              </a:lnSpc>
              <a:spcBef>
                <a:spcPts val="400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“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services.Logica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(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filepath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)” estabelece conexão via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socket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com 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xml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service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para enviar o novo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csv</a:t>
            </a: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914400" indent="-457200" algn="just">
              <a:lnSpc>
                <a:spcPct val="200000"/>
              </a:lnSpc>
              <a:spcBef>
                <a:spcPts val="400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“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parseCsvLine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“ lê cada linha do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csv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em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streaming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e para cada um chama “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getInfoAndFix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” para gerar o novo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csv</a:t>
            </a: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914400" indent="-457200" algn="just">
              <a:lnSpc>
                <a:spcPct val="200000"/>
              </a:lnSpc>
              <a:spcBef>
                <a:spcPts val="400"/>
              </a:spcBef>
              <a:buFont typeface="+mj-lt"/>
              <a:buAutoNum type="arabicPeriod"/>
              <a:tabLst>
                <a:tab pos="0" algn="l"/>
              </a:tabLst>
            </a:pPr>
            <a:r>
              <a:rPr lang="pt-PT" sz="14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A cada linha processada e com o novo conteúdo é enviada via </a:t>
            </a:r>
            <a:r>
              <a:rPr lang="pt-PT" sz="14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socket</a:t>
            </a:r>
            <a:r>
              <a:rPr lang="pt-PT" sz="14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para o </a:t>
            </a:r>
            <a:r>
              <a:rPr lang="pt-PT" sz="1400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xml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Service</a:t>
            </a: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2761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5A5EF-B6A8-D81C-EF4A-587E197D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21C0A05A-E984-150F-5042-79CA1C4D41CA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B5F18FAB-4F84-454B-B322-53C0308C39CA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13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4277C043-0FF6-227E-AAF5-F78B512669B3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 AWS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CA3413A-48AB-03AD-B3AA-A6F7056D606B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588524A1-1C8B-8606-FDE4-AC2DA50748E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63A51737-0C54-1F5D-2DCD-BBD2A6DC178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E2646DB2-EE20-C5CB-B625-E5B211ECF16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A720E4EE-4369-8F88-56D6-A6A55482764A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A336774A-9509-8817-76EC-FEFA4818536E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F4B91C85-78C6-C765-992C-3B09868CF05B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802F9B-5CD2-FE16-1246-5A412E0B29DE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5B0C79CF-A067-3F69-32EE-CD249D8D8E43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Cada imagem nova(versão) fica registada no ECR,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Elastic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Container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Registry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. Funciona como controlo de versão para depois utilizar no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deploy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do ECS.</a:t>
            </a:r>
          </a:p>
        </p:txBody>
      </p:sp>
      <p:pic>
        <p:nvPicPr>
          <p:cNvPr id="6" name="Imagem 5" descr="Uma imagem com texto, captura de ecrã, software, número&#10;&#10;Os conteúdos gerados por IA podem estar incorretos.">
            <a:extLst>
              <a:ext uri="{FF2B5EF4-FFF2-40B4-BE49-F238E27FC236}">
                <a16:creationId xmlns:a16="http://schemas.microsoft.com/office/drawing/2014/main" id="{16100C0D-1ADA-4AC2-7EA6-AE2535B5A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960" y="1270487"/>
            <a:ext cx="8837640" cy="431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63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B722-16BF-2AA6-9FCD-EF1DED27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F0F7CE65-E5A0-5BCE-6BB1-A96157E4678F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806ADE7B-03A2-381C-B641-1E631BE3A6A8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14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DD8926FE-CED5-4584-FB38-C181DF51A548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 AWS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67FB941C-2B98-7B76-9AA1-7441AFAE564F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F0896AEE-0C8C-BD8F-91AB-8592DF31B7F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8E63B049-3292-8060-9226-23D50BF3DF2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113BE5BC-E873-0580-AF39-82D81A00A34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A1B88804-28E7-9A41-8566-BD8CF5DC9C02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8FC2649A-5CBC-4958-E0B2-8FB52232F67F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E5EAFBB-ED68-65F1-79C3-EB16B3DF0B57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34B861-D18A-06A4-B512-C28AB99BB01D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1A81BE7-6F0E-AF7C-313D-302CAB43575B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Ao utilizar ECS as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envs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são configuradas diretamente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na interface presente do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task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definition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m 10" descr="Uma imagem com texto, captura de ecrã, software, Página web&#10;&#10;Os conteúdos gerados por IA podem estar incorretos.">
            <a:extLst>
              <a:ext uri="{FF2B5EF4-FFF2-40B4-BE49-F238E27FC236}">
                <a16:creationId xmlns:a16="http://schemas.microsoft.com/office/drawing/2014/main" id="{AA2F1495-876F-571C-01F4-8465B6A987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" y="1260360"/>
            <a:ext cx="9144000" cy="2300347"/>
          </a:xfrm>
          <a:prstGeom prst="rect">
            <a:avLst/>
          </a:prstGeom>
        </p:spPr>
      </p:pic>
      <p:pic>
        <p:nvPicPr>
          <p:cNvPr id="15" name="Imagem 14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1C0F6AA7-746E-BC9C-AA9E-16D2006E87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206" y="3477068"/>
            <a:ext cx="3676306" cy="27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5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37B9-41AE-F2AA-4241-A6CC294E8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7CA37993-7F69-3B71-6F5C-A52E0C8C37B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A2AB7184-ED9C-DAB2-22F5-646FBFF34FD1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15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7D58FB40-D6E7-38C6-CE8A-1E47B52020C5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 AWS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54F326EC-4DC9-E00A-6817-2CC936D48BC3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CE9FA14B-2DCC-2308-D74C-A50FBCE2563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D6CB4257-170A-8F24-50FC-E38B65108CD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387C2C2E-AF0F-1F08-D2AD-CA613A96DBB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184655FB-4B7E-8F15-4E4D-008F2F66516D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AA75905D-E55B-ABB4-2DDD-76062E4C59CF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1557802A-4B28-7BE3-7FC5-E65544CDE39F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FAC45D-1F34-6006-8AE8-88422AD322E3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A08E96B9-89EA-8189-314A-9A1C68265155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O serviço ativo neste cluster corresponde à versão 9 definida no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task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definition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do slide anterior.</a:t>
            </a: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Imagem 5" descr="Uma imagem com texto, software, captura de ecrã, Página web&#10;&#10;Os conteúdos gerados por IA podem estar incorretos.">
            <a:extLst>
              <a:ext uri="{FF2B5EF4-FFF2-40B4-BE49-F238E27FC236}">
                <a16:creationId xmlns:a16="http://schemas.microsoft.com/office/drawing/2014/main" id="{89ADCB2D-2FD3-F5E7-839F-AE9DF8A6CF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024" y="1198440"/>
            <a:ext cx="8705088" cy="32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44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BF6C-BEE7-5007-ECBC-188E4EA5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642C033D-03AA-3F2A-DABC-48F09704D4A4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FD1B6596-E4DF-048B-8709-E3EAAB1F651A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A5494006-2C4A-DF2C-99BA-AB7B009E6DBB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 AWS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575E0E85-9E3E-F17C-EC64-BD35002C6DAF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5BEB167F-DC29-67F1-A435-CAAA25C04B0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622BF3D-6CD0-A56E-B2B6-CE214D58304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776562B4-38ED-933D-D506-8E4DFE36A6B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FD5C8739-BFE9-168F-A5BF-67151490CE43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3141A643-6AA3-8F04-C96E-49CD54E12B62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82767569-CECC-A504-F214-84BB386A4179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710412-1F31-5180-F13A-55ACD583EEDF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DB708427-39A0-2ED1-7F8E-1BD67C1E475F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, file, número&#10;&#10;Os conteúdos gerados por IA podem estar incorretos.">
            <a:extLst>
              <a:ext uri="{FF2B5EF4-FFF2-40B4-BE49-F238E27FC236}">
                <a16:creationId xmlns:a16="http://schemas.microsoft.com/office/drawing/2014/main" id="{9194BB53-6DFC-4EFC-C5A1-F1DB601A0F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36" y="1124055"/>
            <a:ext cx="9144000" cy="336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84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DFC8-998F-3440-F615-6D39F8A1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3FD16DDD-153C-9922-E475-A4FEF03E73D8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DE2DFF8A-D440-F4E2-B206-FC3E22BCB7FA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17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66C42593-DC99-A9D2-3A07-8D6C23CA7D21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 AWS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B251C69-1DEB-C61D-5B23-3E0B0689AA1A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584C73AC-EB93-D77D-B617-57A759BCCC2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47CCD5BF-C25A-B299-EA0A-B74D02C6A83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E478019C-E60D-E33E-FBF8-435FE896B0E7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6D882E30-1C55-06E1-339C-CA1407585A03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60628347-57ED-0489-0EEE-72B111B53C34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E0959A8F-F373-0016-B60C-C77899708AC4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D98A0D-F4FA-6CB1-302D-6F43BEF74526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A268BA2E-DA17-4598-FF7B-F3558015E547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Foi utilizado 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application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load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balancer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para expor 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endpoint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do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webhook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com um DNS estável e que não altere ao mudar a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pic>
        <p:nvPicPr>
          <p:cNvPr id="6" name="Imagem 5" descr="Uma imagem com texto, captura de ecrã, file, Tipo de letra&#10;&#10;Os conteúdos gerados por IA podem estar incorretos.">
            <a:extLst>
              <a:ext uri="{FF2B5EF4-FFF2-40B4-BE49-F238E27FC236}">
                <a16:creationId xmlns:a16="http://schemas.microsoft.com/office/drawing/2014/main" id="{C9403C06-DBE1-9BCB-D9B5-1928826C6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20" y="1015560"/>
            <a:ext cx="9144000" cy="276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70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1DD8-5D22-3356-5BB0-1AB7A4C3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1527C58F-98FC-D872-F858-EFAD943C0231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76B45635-1359-BDB4-8BCE-CEE1BEDF4291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18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327D702B-68A1-E7C4-A842-B93D3689E1AA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8556BC85-4928-D6A4-8271-E3E4B088E3DE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80B8D9FB-9521-9B90-23A5-CCF41D00562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7B535CE6-AEA0-9496-CCEB-2FAC78303F0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95F1EAFB-0AAF-EBB7-FB03-64509DED422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2459491E-CE64-4015-9DF2-43458D29A53C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402735AB-C114-9EF3-C7EF-BA83023AEDF9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0105B38E-BA99-9D28-FC31-597365C03B39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87ABFB-29FA-0E62-E524-5E85843ACD75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0233A447-1F93-DF22-99E6-0F3170CFD0A0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A função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main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inicia todos os processos necessários ,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webhook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, conexão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socket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e conexão com 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Rabbitmq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Caso seja lida com sucesso uma mensagem o conteúdo da mesma é passada para o serviço responsável pela logica. O conteúdo da mensagem corresponde ao nome do ficheiro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csv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novo.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, Tipo de letra, ecrã&#10;&#10;Os conteúdos gerados por IA podem estar incorretos.">
            <a:extLst>
              <a:ext uri="{FF2B5EF4-FFF2-40B4-BE49-F238E27FC236}">
                <a16:creationId xmlns:a16="http://schemas.microsoft.com/office/drawing/2014/main" id="{A263DAAA-9F44-D06E-6BB4-A04150B81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3761" y="1198440"/>
            <a:ext cx="4629796" cy="1667108"/>
          </a:xfrm>
          <a:prstGeom prst="rect">
            <a:avLst/>
          </a:prstGeom>
        </p:spPr>
      </p:pic>
      <p:pic>
        <p:nvPicPr>
          <p:cNvPr id="11" name="Imagem 10" descr="Uma imagem com texto, captura de ecrã, ecrã, software&#10;&#10;Os conteúdos gerados por IA podem estar incorretos.">
            <a:extLst>
              <a:ext uri="{FF2B5EF4-FFF2-40B4-BE49-F238E27FC236}">
                <a16:creationId xmlns:a16="http://schemas.microsoft.com/office/drawing/2014/main" id="{35C037E1-C656-5E60-1010-5C75ED8580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3761" y="3429000"/>
            <a:ext cx="4629796" cy="203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19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BE35-4C3D-8873-A51A-ABF916B9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B5DA529E-92C1-770B-CE2B-E8062041242A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3BFD81A8-A181-2866-DD1F-58CD19A498DE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19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33E0B563-EDB6-8387-D3CB-F600398805AE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0AA4E904-A0A4-B674-7D60-037CDC3C3930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48829FA6-85A8-3CAD-3894-0E0CE4C2140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E0DC41C0-A54C-F5AD-D9CD-2F7168A1162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07376E58-EE8E-AC90-D62A-CBEABC92D11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AED1142E-3E2C-6387-3C82-180AAC64F253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F031B7DB-AD37-DEB1-8115-9D28DD2AC687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1E146C6A-9B8C-3AC3-BF7B-DCDF30AEC191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4604A8-CCF7-0019-DC54-AE8FDA340640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06182420-EFA2-773E-BA27-9E025F5E7872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600" dirty="0">
                <a:solidFill>
                  <a:srgbClr val="000000"/>
                </a:solidFill>
                <a:latin typeface="Arial"/>
              </a:rPr>
              <a:t>É estabelecida a conexão ao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socket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 e o “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defer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” garante que o mesmo é sempre fechado no fim da execução. A função “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getfilefrombalde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” retorna o body para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streaming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ecrã, software&#10;&#10;Os conteúdos gerados por IA podem estar incorretos.">
            <a:extLst>
              <a:ext uri="{FF2B5EF4-FFF2-40B4-BE49-F238E27FC236}">
                <a16:creationId xmlns:a16="http://schemas.microsoft.com/office/drawing/2014/main" id="{CC56F4CB-7FAA-1BA7-2A58-0CB3218F3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4241" y="1176354"/>
            <a:ext cx="5534797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3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39D2-E7E2-B327-4A8B-1AD0F2FB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C9A84B13-4A9A-B65B-A3E5-8C987586FEB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A3714DF7-0CB8-99E7-D462-BD5EB6133811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20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9DB24C05-52A6-3E28-6436-FE8FC1A5DC9F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22F580D4-265B-CAD5-125F-05DB05F6992A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896BB773-B1B8-6568-B0FA-26D363D3064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8FE253C-6724-E663-7272-87E41828912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A49A7D02-0C27-5F63-D1FD-0E07AF27FA5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4572AC44-CB56-6561-F648-397C54CCFB43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FC34555C-9599-BA3B-E4FB-1C0E38C440B6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DECB3FA5-EB30-6A84-6BE7-DD40F8A66753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A73CB-6C5F-59EB-BEF1-D6D9312A0927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1A96A8B1-CC26-0013-A009-9B481CD327FD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É definido 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mapper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,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url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do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webhook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e gerado um ID para a requisição e enviada a informação via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socket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B019F8F7-1A56-2E94-D787-A5D77ED710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224" y="1260360"/>
            <a:ext cx="6864831" cy="369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87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A6B1-B67D-736E-CAD4-09E51B93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E408E93C-D555-12A7-206F-285F5F958E5B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ECCC2E03-09F4-8ABF-743E-EDF2630CCEDA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21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2A49248C-2E08-5DAA-58B6-7E732898F71C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BDBC9E3F-8FDF-49F5-A03C-2498E241BB66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914E7CD0-4048-C1B5-E943-6E3F8EFF663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FA9A1A15-48CD-5749-17FB-D8AF76BF12C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9F47CD10-0F58-A0EE-0829-AB4BB5F200F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8A84DF2B-788A-9881-C2E1-4CED6864D8EE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4B68DD49-2377-B949-C8AE-44D8510E68E1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6274A91D-238B-ECCD-D759-80E303488CC8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47D0DA-39A9-F906-E985-530161B40509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A95015FC-7F86-1F43-CD70-A8C2A43300D1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600" dirty="0">
                <a:solidFill>
                  <a:srgbClr val="000000"/>
                </a:solidFill>
                <a:latin typeface="Arial"/>
              </a:rPr>
              <a:t>Em seguida são enviados os identificadores das colunas e chamada a função auxiliar que itera sobre cada linha e agrega a nova informação.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05BBCF95-0705-486B-286D-497A155801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944" y="1308827"/>
            <a:ext cx="8635752" cy="197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9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87B9-667A-0123-BDA9-1ADDA702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E8344FA4-6CD2-2AEE-7B81-F01697C390C7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9BDCAAF2-F50D-3525-5DC4-CDCB952CCA72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22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40C7D37C-EF47-1F2B-8DB1-3534A411E866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60F9F2F-BF5F-0529-C3AA-2AD9D6169603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C579069F-266F-3DCE-46FD-6873279B8DE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82F527C2-A87A-D454-D677-A371C309C43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D6608B88-9E90-CC0E-BBE3-7AE69155AEC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F7C1C2BD-5A2C-5E86-B2F9-8562BA20F08D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CF62B990-5FD5-2858-6941-A3CFE63E5CA9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A82D30FE-4B1B-91D8-F7A8-42F300219154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886537-D876-A1C5-8C3D-DA582AE1A065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64905170-82FF-8BC0-99EF-8BEB7BCE4144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header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é ignorado e a função itera até encontrar o EOF. Para cada linha é criada uma “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csvLine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” que é passada para que possa ser agregada a nova informação proveniente da API externa.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, software, ecrã&#10;&#10;Os conteúdos gerados por IA podem estar incorretos.">
            <a:extLst>
              <a:ext uri="{FF2B5EF4-FFF2-40B4-BE49-F238E27FC236}">
                <a16:creationId xmlns:a16="http://schemas.microsoft.com/office/drawing/2014/main" id="{55C24619-CFDC-F805-B11A-366FC27C73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1382" y="1160415"/>
            <a:ext cx="5105708" cy="344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04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2061C-98D3-18AA-0F5C-730177872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397B14DA-8920-911A-A2F2-70F6F467C85C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DA115A0A-4CB5-E397-8D75-2AD6598BFBB2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23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5C993A90-EBD9-7BCC-E9BA-4E10DA1548D4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5 – Processador de dados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6C90EC4-6C49-3789-E46C-BD9B645D6D0A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084869EE-77E9-60C4-79B2-E1171BD4E9C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BDD0C7E-1686-1C18-623D-C610E698B8B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1558F29B-9385-9305-0651-FBC7ED2E3FCB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58C9ACE1-4A68-80F4-8D80-F0F40FF7BD41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BE4A121B-553A-726F-CBD2-444EDBAAD791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BA16D231-9EAF-BA42-9D9D-E09E3915B9D2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6692A3-035E-4DD9-77F2-96D6CD48F9C4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E713E1DD-C9D3-413C-1180-37558700EB95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400" dirty="0">
                <a:solidFill>
                  <a:srgbClr val="000000"/>
                </a:solidFill>
                <a:latin typeface="Arial"/>
              </a:rPr>
              <a:t>Para cada linha processada no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getInfoAndFix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 é passado o “ISBN” como argumento para a função auxiliar e esta função devolve a descrição do livro e as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thumbnails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. Após construir a nova linha com a informação extra a mesma é enviada via </a:t>
            </a:r>
            <a:r>
              <a:rPr lang="pt-PT" sz="1400" dirty="0" err="1">
                <a:solidFill>
                  <a:srgbClr val="000000"/>
                </a:solidFill>
                <a:latin typeface="Arial"/>
              </a:rPr>
              <a:t>socket</a:t>
            </a:r>
            <a:r>
              <a:rPr lang="pt-PT" sz="14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2437120C-93B8-B816-02C9-A2EA804AF0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60" y="1170000"/>
            <a:ext cx="4506443" cy="3339072"/>
          </a:xfrm>
          <a:prstGeom prst="rect">
            <a:avLst/>
          </a:prstGeom>
        </p:spPr>
      </p:pic>
      <p:pic>
        <p:nvPicPr>
          <p:cNvPr id="9" name="Imagem 8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7AF14ED0-524D-7160-A625-DCC3CDFD3E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5936" y="1181343"/>
            <a:ext cx="4026528" cy="3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57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BFEC0-E7D8-5CCA-13BA-326C805B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975AD0A8-82B0-01D8-EAA9-07D758583EFD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40B9E179-C7DD-3D2E-4665-3628AE0C78A8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24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344658E2-CBD7-FA6E-76AB-FAD185F2300E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D4F6D82-FEBF-B9D2-8E24-2994EF183CF5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F15B2BDC-AFCE-7534-913D-57BB05CACF0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3516B952-9DDB-5826-4FDB-AEE8740F8AA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7A3BB09C-3068-AA68-4CEB-4F6F5E25B090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9E6C9046-C9D1-2EF4-B070-0AAA44D9792F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A5670C85-E6F5-36D8-A277-7E9E8EFE00C0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B28CE929-DD83-FC04-A24A-F94BB3B4DA03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0CDCE3-8144-D291-62E9-03714D72D533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B5F8CF88-5C25-76E4-FE1A-00231095E00D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O XML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Service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foi desenvolvido em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e pode ser acedido externamente pelo processador de dados. O XML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Service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implementa 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gRPC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Server e representa o servidor do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Socket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Este serviço é responsável por todo o processamento de CSV –&gt; XML, validação, inserção na base de dados e devolver a resposta via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webhook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ao processador de dados.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9180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D76D-C344-C8BB-4779-61FD6E97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B2B251C1-65CA-86D0-388E-93A525C3BC37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E3F49672-5F9C-8952-2735-4D6054F05CBC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25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0C8E5404-B781-1C7E-725B-3D5DBB791390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51F3558-C170-6C33-3DE7-0F6B758A2D03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4EA22930-6773-4053-1061-8F04B72FE57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28D2F959-B362-857A-722F-1E7F19E0157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FF6E3FBD-D1DF-69FB-4116-32572C9FCF18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988ACA5D-1B7A-8B5D-BCD7-8C8CE6FD5B75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29687CBA-5D7E-34C5-903B-33C0400B090D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866E8030-ADBD-1038-C8CA-68CA20AA6BA5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01E7E2-9765-E167-D5B4-A4A27E88DF1B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4BDCB26-C595-1989-4808-7394B99B9541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Ambos os servidor são inicializados no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xml_service.py.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/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C96975D8-E8C0-EEC0-21B0-F6B06F500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25960"/>
            <a:ext cx="5652761" cy="1625794"/>
          </a:xfrm>
          <a:prstGeom prst="rect">
            <a:avLst/>
          </a:prstGeom>
        </p:spPr>
      </p:pic>
      <p:pic>
        <p:nvPicPr>
          <p:cNvPr id="8" name="Imagem 7" descr="Uma imagem com texto, captura de ecrã, ecrã, software&#10;&#10;Os conteúdos gerados por IA podem estar incorretos.">
            <a:extLst>
              <a:ext uri="{FF2B5EF4-FFF2-40B4-BE49-F238E27FC236}">
                <a16:creationId xmlns:a16="http://schemas.microsoft.com/office/drawing/2014/main" id="{6871F837-1EDB-CC28-D013-5B0BDA5BDF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3478" y="2999153"/>
            <a:ext cx="4336282" cy="291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96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C2CF-2657-31F7-61FF-7E2C1BD1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04B0A21F-FEE6-FA64-BCA0-DE13A5A601A1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794C71AB-2D84-2D70-BA85-857A64C0C4CA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26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4396072C-AEBA-7A33-8A49-FCE8A590FD09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119B4BFF-93FC-7972-8633-1B88F60C6540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391255CD-8DEC-78DA-67A3-4D9D7D1EB05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4DACF53E-497E-6B22-B519-C7A27D67769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1A171704-4647-FBA7-D7E4-85B30E229EDF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F7A976BE-02B7-EABC-3BEB-B1952589F2D0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E1A8368C-EAFA-8B44-1393-2042AC465BAF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AAB09851-2CD8-3C19-777C-67E7A86CB0FE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23BE4B-10FE-9EA4-D058-F46D57A7BA70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1D4E7931-63E2-113D-794B-ED7816AF81A4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600" dirty="0">
                <a:solidFill>
                  <a:srgbClr val="000000"/>
                </a:solidFill>
                <a:latin typeface="Arial"/>
              </a:rPr>
              <a:t>Após receber uma conexão via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socket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 é chamada a função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read_lines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. Esta é uma função geradora que permite iterar linha a linha sem carregar em memoria. O gerador é consumido inicialmente para extrair o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header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/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m 9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669575F2-EE58-879C-7445-F3C375B88C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5913" y="1160415"/>
            <a:ext cx="3837533" cy="358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76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780E-B521-19DF-67B2-47EC1876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1A188922-EB2B-9980-A994-8DBF4CF7CCE1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58808519-39AC-246D-516E-75AC92734ECC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27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A1BB633A-41AA-1D4A-A40C-D96C9352222F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927C8AB4-103A-B77D-5DDD-CF3EA36F0717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CAA975FA-C584-89C4-6F7B-B6E1D8FC403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72575FBD-1303-8A3B-D768-6C3E36CCBF4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1F3B0F24-111C-3FB0-5A36-07F6055FDC8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F038A299-34F3-FA2B-399C-40D0C956FB86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66CD2D29-FEEC-FB3C-F2E6-D184332C04EF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DFC4F0B-3A3B-8B82-521A-B5CC73B557D5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FFEBAF-31E8-3F4B-D087-3FA2401E4245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F36F397-CA2B-89DB-6DE7-A63A894A24C2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A função recebe “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lines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”, o gerador criado pela função “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read_lines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” e para cada linha recebida via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socket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escreve no ficheiro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csv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e adiciona o “\n”.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Após escrever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csv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é adicionado a uma file para ser processado,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csv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-&gt;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xml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</a:t>
            </a:r>
            <a:endParaRPr lang="pt-PT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/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Tipo de letra, ecrã&#10;&#10;Os conteúdos gerados por IA podem estar incorretos.">
            <a:extLst>
              <a:ext uri="{FF2B5EF4-FFF2-40B4-BE49-F238E27FC236}">
                <a16:creationId xmlns:a16="http://schemas.microsoft.com/office/drawing/2014/main" id="{1F886781-209B-C015-5A87-D72EF1ED5C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2369" y="1211895"/>
            <a:ext cx="521090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9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90C4E-BFDF-6639-F608-606E4FD5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2C251D71-5A62-A532-E0EA-1B1528A516E1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DDBA4BB8-8172-9244-69BB-2EED24DC60AF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28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CC437CB7-56DF-BC9A-E175-1701B11CBC24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F2D80C4F-D7CF-48D9-CDEB-DD4B5462B6D2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E01AB408-0BAA-01CF-2AF6-CED62BD72DD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D46F4E75-E968-29A3-6FDD-F9913C50E82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26334238-17CA-B1E6-F111-8A9BBA65E99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365EE881-4E1E-38E0-6431-B54BD16F733C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07F22201-AD5C-0D5B-DD81-220B0DAB4E56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1FFBABD5-60FB-9202-43DE-C6032508A2C3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05A116-0A16-97A7-BD97-6295867C8D2D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81CA4841-7CF3-0AE5-911E-767047472D79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Para cada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csv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na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queue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, é executada a função “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process_job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”. Esta função é responsável por converter para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xml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, validar com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schema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e adicionar à base de dados.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Dependendo do resultado é enviado um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webhook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OK/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NotOK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/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690F70C7-ABBE-A68F-3843-EA5A6D4609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8395" y="1095255"/>
            <a:ext cx="4190805" cy="31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11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9E2D5-0E56-4DCF-5544-9F9FD780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8E89CA8F-7845-9049-1AE5-C8F8D2A3529D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4F81A69C-6451-6F3C-64B1-5CC908882458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29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40754FB6-EAE3-114E-369D-C936568B50E4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4E259CE4-1950-B15B-5974-76E37424C4E5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0AE64B6B-EEA8-1D3B-8EB4-A0D7E7C6A61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85F39AAF-9388-24D7-C37A-AFA3DE28115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21420414-544F-E893-970B-3CD5D07DCBA5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6848A9DB-5799-B268-C629-D95F7311BA85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8CE0D4BD-56C7-135A-D4B7-7AF8ACA4F771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094498E8-8995-5B5F-395D-6C43A6009473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A31334-D247-D3AE-3860-21601EBD9D8C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6F5B5F9E-1447-C453-2EF6-1901AC5D4C44}"/>
              </a:ext>
            </a:extLst>
          </p:cNvPr>
          <p:cNvSpPr/>
          <p:nvPr/>
        </p:nvSpPr>
        <p:spPr>
          <a:xfrm>
            <a:off x="306360" y="1219320"/>
            <a:ext cx="863575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O ficheiro XML gerado é armazenado numa coluna do tipo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xml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com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timestamp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em que foi adicionado e a versão do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mapper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 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/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Tipo de letra, software&#10;&#10;Os conteúdos gerados por IA podem estar incorretos.">
            <a:extLst>
              <a:ext uri="{FF2B5EF4-FFF2-40B4-BE49-F238E27FC236}">
                <a16:creationId xmlns:a16="http://schemas.microsoft.com/office/drawing/2014/main" id="{F8FB68E8-5743-A536-9185-207CB2B39C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559" y="1198440"/>
            <a:ext cx="3962953" cy="1362265"/>
          </a:xfrm>
          <a:prstGeom prst="rect">
            <a:avLst/>
          </a:prstGeom>
        </p:spPr>
      </p:pic>
      <p:pic>
        <p:nvPicPr>
          <p:cNvPr id="9" name="Imagem 8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30C87758-C6DA-3AE1-8CA5-1D3392FB4B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888" y="1198440"/>
            <a:ext cx="482984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56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6A5C-DE6D-932D-CB05-B1A548D4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797161DF-02D0-334A-C090-EC1D0B2CAF48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4607C68A-75FA-0869-C60D-7A47611F46FE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30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BBF0BA49-E22E-E248-546A-E2D8F70A25A0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E02248A7-6CDB-7500-2796-857F99CDFECC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913B4D2E-A494-C61C-1B4A-59395C39554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5844107-17A1-BEEB-F2B7-3A823A73E9F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99AAE49D-ECDC-C992-2C6D-545454DC23C6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BA006A8B-B7F6-41BF-7024-722428A0BC53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D0B4580C-A209-FED6-5D7D-2AAC4FF9A70B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8B37E170-A6B6-0A01-ED0E-5BAEA14479A8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2718D7-6859-62EE-91BE-C24E8D8FBC6C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BA44AE74-26B8-E80A-C0A4-7153C5D40697}"/>
              </a:ext>
            </a:extLst>
          </p:cNvPr>
          <p:cNvSpPr/>
          <p:nvPr/>
        </p:nvSpPr>
        <p:spPr>
          <a:xfrm>
            <a:off x="4049820" y="1219320"/>
            <a:ext cx="4892292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600" dirty="0">
                <a:solidFill>
                  <a:srgbClr val="000000"/>
                </a:solidFill>
                <a:latin typeface="Arial"/>
              </a:rPr>
              <a:t>O ficheiro proto presente no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xmlService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 define o contrato que será utilizado pelo BI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Service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 para executar consultas.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600" dirty="0">
                <a:solidFill>
                  <a:srgbClr val="000000"/>
                </a:solidFill>
                <a:latin typeface="Arial"/>
              </a:rPr>
              <a:t>São definidas as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rpc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 para listar livros, listar autores, pesquisar por titulo e pesquisar livros por nome do autor e o 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payload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 esperado(</a:t>
            </a:r>
            <a:r>
              <a:rPr lang="pt-PT" sz="1600" dirty="0" err="1">
                <a:solidFill>
                  <a:srgbClr val="000000"/>
                </a:solidFill>
                <a:latin typeface="Arial"/>
              </a:rPr>
              <a:t>message</a:t>
            </a:r>
            <a:r>
              <a:rPr lang="pt-PT" sz="1600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/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EC5A4DF5-7DD0-6FC0-CFC0-B14C6256F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660" y="1069297"/>
            <a:ext cx="3499920" cy="530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0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DC0C-44F1-929A-F1ED-F5D2DC58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09A1299D-9453-5E44-4B98-3BB3F5E98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" y="1369415"/>
            <a:ext cx="4391638" cy="2114845"/>
          </a:xfrm>
          <a:prstGeom prst="rect">
            <a:avLst/>
          </a:prstGeom>
        </p:spPr>
      </p:pic>
      <p:sp>
        <p:nvSpPr>
          <p:cNvPr id="87" name="Text Box 10">
            <a:extLst>
              <a:ext uri="{FF2B5EF4-FFF2-40B4-BE49-F238E27FC236}">
                <a16:creationId xmlns:a16="http://schemas.microsoft.com/office/drawing/2014/main" id="{5F0842DE-D315-F831-79C1-CAA26E8B5DDD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A795E508-A868-7504-474F-1728ADAAFB22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31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3BD9C490-0C09-8BA8-7B55-E9F085157D1E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6 – XML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3B4C64A2-BDBC-1501-CF7B-388C9BDB0AA2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C81A3127-44EC-D6C2-2F8C-AF42F2CFFB2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DE093C5-C374-F5F2-1EDE-75D99287250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F7001EA8-ABE7-983E-6191-36087277E3AE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519F7A08-FB20-F0A5-A634-DB397E41B445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18D6ABF1-E370-747E-2B64-6E24F9940B4D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50B28367-3FDC-3931-BE58-3AC1CA84DD98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056D9A-E9B0-2103-1BF2-0C6E862A73C0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025B4120-969F-B457-EF5B-BF7D3D12C5BE}"/>
              </a:ext>
            </a:extLst>
          </p:cNvPr>
          <p:cNvSpPr/>
          <p:nvPr/>
        </p:nvSpPr>
        <p:spPr>
          <a:xfrm>
            <a:off x="374904" y="1219320"/>
            <a:ext cx="8567208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/>
              <a:t>Cada RPC tem uma </a:t>
            </a:r>
            <a:r>
              <a:rPr lang="pt-PT" dirty="0" err="1"/>
              <a:t>Query</a:t>
            </a:r>
            <a:r>
              <a:rPr lang="pt-PT" dirty="0"/>
              <a:t> definida que será executada quando  o BI </a:t>
            </a:r>
            <a:r>
              <a:rPr lang="pt-PT" dirty="0" err="1"/>
              <a:t>service</a:t>
            </a:r>
            <a:r>
              <a:rPr lang="pt-PT" dirty="0"/>
              <a:t> faz o </a:t>
            </a:r>
            <a:r>
              <a:rPr lang="pt-PT" dirty="0" err="1"/>
              <a:t>request</a:t>
            </a:r>
            <a:r>
              <a:rPr lang="pt-PT" dirty="0"/>
              <a:t> via </a:t>
            </a:r>
            <a:r>
              <a:rPr lang="pt-PT" dirty="0" err="1"/>
              <a:t>gRPC</a:t>
            </a:r>
            <a:r>
              <a:rPr lang="pt-PT" dirty="0"/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Imagem 8" descr="Uma imagem com texto, captura de ecrã, Tipo de letra, software&#10;&#10;Os conteúdos gerados por IA podem estar incorretos.">
            <a:extLst>
              <a:ext uri="{FF2B5EF4-FFF2-40B4-BE49-F238E27FC236}">
                <a16:creationId xmlns:a16="http://schemas.microsoft.com/office/drawing/2014/main" id="{53153798-7177-30EA-0218-505C63234B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3297" y="1767837"/>
            <a:ext cx="5115639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23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87C7B-33CC-ADE4-3A23-F3AF485E4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0C4D0074-9E1D-08E1-146A-56CE486668DE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3596FFD0-3748-9532-47A9-82D5DDF61556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32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5764169A-FB35-A268-4A45-ABEA9E9E0F44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7 – BI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882EA901-40F9-44E2-5B60-BFCFD5DC4AC1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19FDA035-F2C3-2D5D-E7FE-4A859FC2A97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2077FC48-1B38-DD93-B10E-D3C6D5CE29A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A5716CAE-4F00-C310-5493-EA1766F00ACF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A1E5D079-EC69-AB71-DA17-637734E5F9D8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464B6033-46F6-2157-176D-CBF7814F1F92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E5A22FBB-0209-D9C8-318F-305F7CCDBD7B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CC8C73-52BF-3F7B-745D-0718484BE6A2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DA2BCAE6-7789-DF27-0EFD-EBF2E6C7566D}"/>
              </a:ext>
            </a:extLst>
          </p:cNvPr>
          <p:cNvSpPr/>
          <p:nvPr/>
        </p:nvSpPr>
        <p:spPr>
          <a:xfrm>
            <a:off x="374904" y="1219320"/>
            <a:ext cx="8567208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O BI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Service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foi desenvolvido em Elixir e expõe um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endpoint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GraphQL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 que é consumido pelo </a:t>
            </a:r>
            <a:r>
              <a:rPr lang="pt-PT" b="0" u="none" strike="noStrike" noProof="0" dirty="0" err="1">
                <a:solidFill>
                  <a:srgbClr val="000000"/>
                </a:solidFill>
                <a:effectLst/>
                <a:uFillTx/>
                <a:latin typeface="Arial"/>
              </a:rPr>
              <a:t>frontend</a:t>
            </a:r>
            <a:r>
              <a:rPr lang="pt-PT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endpoint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disponível recebe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queries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e via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gRPC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chama o XML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Service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para obter a informação.</a:t>
            </a:r>
            <a:endParaRPr lang="pt-PT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Os dados devolvidos são normalizados antes de serem enviados.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5244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24E3-01AC-56B6-4414-7391B1D8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13BB303A-2F1A-F769-C7BD-56A88554DE2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5A0C4A8F-EE86-D0E7-3AC5-55B601FC0072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33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AF238F4A-EAFA-1E49-2398-8A13E3D5B53E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7 – BI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04E39A99-FC0D-38C9-9FA0-418E39733921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C4355C4E-652C-6E90-3B78-36BF01F2DEA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0B8C54CF-027C-448D-2073-0B38060FAC5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BA7DE869-77A0-DE05-5F9D-E2043A31C70D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B622ED32-633B-065D-BD66-D87940EBD829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5AA4B035-563E-39D8-4BCE-C412969D5BC2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D9FE5DE4-0C37-F55D-DB08-9ABE820B9E95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3AE010-304A-2C17-8F9E-CE2FEE6A9177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242D6537-A637-B2EF-20AD-80AEA14DC98E}"/>
              </a:ext>
            </a:extLst>
          </p:cNvPr>
          <p:cNvSpPr/>
          <p:nvPr/>
        </p:nvSpPr>
        <p:spPr>
          <a:xfrm>
            <a:off x="374904" y="1219320"/>
            <a:ext cx="8567208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Função inicial do BI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Service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 Define os processos e implementa um Supervisor com “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one_for_one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”. Caso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gRPC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ou HTTP server falhem o supervisor reinicia apenas o que falhou.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u="sng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ecrã, software&#10;&#10;Os conteúdos gerados por IA podem estar incorretos.">
            <a:extLst>
              <a:ext uri="{FF2B5EF4-FFF2-40B4-BE49-F238E27FC236}">
                <a16:creationId xmlns:a16="http://schemas.microsoft.com/office/drawing/2014/main" id="{08EC2A8E-B8DC-B560-70DC-7BE876C2AB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2888" y="1160415"/>
            <a:ext cx="4379688" cy="26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92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A165-6075-665A-FDAF-DCDAD6E21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1BD140AD-8841-7BA2-39E6-2818F518B013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20126E4F-A356-3FB8-C85E-3BE11710FB49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34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89F6BDCF-F98D-865F-1D27-D9FC61A74126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7 – BI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02980C1E-1BCB-08D0-069A-9A6B5E37E8DD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F298BE4C-3D62-3C37-E1FE-43C9A93949C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09634A3E-E0A7-C628-4842-0F913C37D41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1A658CAF-8B53-5C41-FD1A-E430A1D28918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E0963E35-0208-5C3A-471C-79DD37DE6D19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6D54AAC2-8092-9E24-BABB-734875F8A1BC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45CA9FEF-C8D8-4F23-81AE-757C572FA381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EFB084-F23E-0E38-43D6-7E45991CEC29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32F1B037-5F8F-DAE7-7829-46F8059FA32B}"/>
              </a:ext>
            </a:extLst>
          </p:cNvPr>
          <p:cNvSpPr/>
          <p:nvPr/>
        </p:nvSpPr>
        <p:spPr>
          <a:xfrm>
            <a:off x="374904" y="1219320"/>
            <a:ext cx="8567208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Criar contexto para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graphql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, validar se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request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é “/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graphql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” e injetar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channel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do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gRPC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u="sng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Encaminha os pedidos para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Graphql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(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absinthe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E2DB4323-5027-BBB6-3C24-B91886AE7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041" y="1302975"/>
            <a:ext cx="6449325" cy="1829055"/>
          </a:xfrm>
          <a:prstGeom prst="rect">
            <a:avLst/>
          </a:prstGeom>
        </p:spPr>
      </p:pic>
      <p:pic>
        <p:nvPicPr>
          <p:cNvPr id="9" name="Imagem 8" descr="Uma imagem com texto, Tipo de letra, captura de ecrã, Gráficos&#10;&#10;Os conteúdos gerados por IA podem estar incorretos.">
            <a:extLst>
              <a:ext uri="{FF2B5EF4-FFF2-40B4-BE49-F238E27FC236}">
                <a16:creationId xmlns:a16="http://schemas.microsoft.com/office/drawing/2014/main" id="{7BE0FD40-9A1B-0509-E091-58D8462B5F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4424" y="4144065"/>
            <a:ext cx="3057952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79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663D-2498-DFED-3542-BFE0709D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046FCE15-09A3-A42A-D619-00EB0220AC0E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2093BC8B-C541-0CE5-B0F9-4D45F1E7500A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35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F7DA1D64-A571-F5FD-7556-2EC49B9B551B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7 – BI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4B13C852-E7A8-3936-D09A-109DF38AB981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39E9FA00-BC73-4C3A-B7F1-CE37A894DA5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7F7D3FA6-85D9-BD8D-B2B0-4C0D664BCDA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2A6D89F5-5C8E-C670-AA63-DB2C23C75978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D79F78A2-5B8C-6AA4-4603-885D65155FD9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1AA0BB86-5A32-375E-5764-A59A69125061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AB3A0E93-D309-D510-C17E-3F254E3BDD01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ECF23F-E5DA-E6D2-E640-BA45FBC441AB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E5EA35FC-E0AB-8460-2FCB-3E670B4E3260}"/>
              </a:ext>
            </a:extLst>
          </p:cNvPr>
          <p:cNvSpPr/>
          <p:nvPr/>
        </p:nvSpPr>
        <p:spPr>
          <a:xfrm>
            <a:off x="374904" y="1219320"/>
            <a:ext cx="8567208" cy="53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 err="1">
                <a:solidFill>
                  <a:srgbClr val="000000"/>
                </a:solidFill>
                <a:latin typeface="Arial"/>
              </a:rPr>
              <a:t>Schema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para 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GraphQL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 São declarados os objetos e atributos de cada.</a:t>
            </a:r>
          </a:p>
        </p:txBody>
      </p:sp>
      <p:pic>
        <p:nvPicPr>
          <p:cNvPr id="6" name="Imagem 5" descr="Uma imagem com texto, captura de ecrã, software, Tipo de letra&#10;&#10;Os conteúdos gerados por IA podem estar incorretos.">
            <a:extLst>
              <a:ext uri="{FF2B5EF4-FFF2-40B4-BE49-F238E27FC236}">
                <a16:creationId xmlns:a16="http://schemas.microsoft.com/office/drawing/2014/main" id="{C5F5AC30-03F8-5445-3FEA-8A2A9C8330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9690" y="1179861"/>
            <a:ext cx="3943900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30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9F4B-DEFF-3382-DA78-E78BFD1B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79F78064-F4FB-4098-F058-0B4BDCF27B7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3B2F0E7E-C38A-4239-938E-F1ACFC89FCA8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36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C7DDEC54-03A1-1B00-9362-852EB0E80909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7 – BI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BD6A1423-FB93-45EC-E5FB-64972B715888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2E6FFC0F-8AE1-09ED-A52C-C2DCDA66D4F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60FDB60B-233A-5F29-0185-BE77102552E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8643065C-86A8-3C93-9E28-BB4CFB0771E2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65E6427E-47B3-5F72-709D-9F8A2752CCD1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E9AD22AB-AC3D-A222-193D-970AB2F160B7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9E41814B-C8A8-31FE-CA8C-E6F732970280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CCF13C-0110-A1FF-31B3-7507EB440F32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F12607BB-E73A-4D7E-7F5F-0AC5E900484B}"/>
              </a:ext>
            </a:extLst>
          </p:cNvPr>
          <p:cNvSpPr/>
          <p:nvPr/>
        </p:nvSpPr>
        <p:spPr>
          <a:xfrm>
            <a:off x="374904" y="1219320"/>
            <a:ext cx="8567208" cy="520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2500" lnSpcReduction="10000"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900" dirty="0" err="1">
                <a:solidFill>
                  <a:srgbClr val="000000"/>
                </a:solidFill>
                <a:latin typeface="Arial"/>
              </a:rPr>
              <a:t>Queries</a:t>
            </a:r>
            <a:r>
              <a:rPr lang="pt-PT" sz="1900" dirty="0">
                <a:solidFill>
                  <a:srgbClr val="000000"/>
                </a:solidFill>
                <a:latin typeface="Arial"/>
              </a:rPr>
              <a:t> </a:t>
            </a:r>
            <a:r>
              <a:rPr lang="pt-PT" sz="1900" dirty="0" err="1">
                <a:solidFill>
                  <a:srgbClr val="000000"/>
                </a:solidFill>
                <a:latin typeface="Arial"/>
              </a:rPr>
              <a:t>Graphql</a:t>
            </a:r>
            <a:r>
              <a:rPr lang="pt-PT" sz="1900" dirty="0">
                <a:solidFill>
                  <a:srgbClr val="000000"/>
                </a:solidFill>
                <a:latin typeface="Arial"/>
              </a:rPr>
              <a:t> definidas no BI </a:t>
            </a:r>
            <a:r>
              <a:rPr lang="pt-PT" sz="1900" dirty="0" err="1">
                <a:solidFill>
                  <a:srgbClr val="000000"/>
                </a:solidFill>
                <a:latin typeface="Arial"/>
              </a:rPr>
              <a:t>Service</a:t>
            </a:r>
            <a:r>
              <a:rPr lang="pt-PT" sz="1900" dirty="0">
                <a:solidFill>
                  <a:srgbClr val="000000"/>
                </a:solidFill>
                <a:latin typeface="Arial"/>
              </a:rPr>
              <a:t>. Cada </a:t>
            </a:r>
            <a:r>
              <a:rPr lang="pt-PT" sz="1900" dirty="0" err="1">
                <a:solidFill>
                  <a:srgbClr val="000000"/>
                </a:solidFill>
                <a:latin typeface="Arial"/>
              </a:rPr>
              <a:t>query</a:t>
            </a:r>
            <a:r>
              <a:rPr lang="pt-PT" sz="1900" dirty="0">
                <a:solidFill>
                  <a:srgbClr val="000000"/>
                </a:solidFill>
                <a:latin typeface="Arial"/>
              </a:rPr>
              <a:t> tem um resolver associado.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sz="1900" dirty="0">
                <a:solidFill>
                  <a:srgbClr val="000000"/>
                </a:solidFill>
                <a:latin typeface="Arial"/>
              </a:rPr>
              <a:t>Para cada função o ”/3” corresponde ao numero de argumentos passados.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, Tipo de letra, software&#10;&#10;Os conteúdos gerados por IA podem estar incorretos.">
            <a:extLst>
              <a:ext uri="{FF2B5EF4-FFF2-40B4-BE49-F238E27FC236}">
                <a16:creationId xmlns:a16="http://schemas.microsoft.com/office/drawing/2014/main" id="{798E5286-1045-25BC-9CC4-801F85C13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3426" y="1137318"/>
            <a:ext cx="4496427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06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DABA-3B7C-8236-0C43-4C01CA2C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5D85A635-1561-1A5A-607E-998C3602A165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E323D00C-67AA-C7B1-1F5F-496C0F5E69B2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37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62569154-5DC2-355D-782B-A1784107C4B9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7 – BI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57103D52-D369-19C8-90B6-1506F3808ECB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6259773D-47B4-5080-B193-BBC12610379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7555F2F1-A80C-CE93-5970-D330932C769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50968E54-E60C-D71A-5EDD-A462E3841DF6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1259ED2A-B839-F90D-5BC3-7DCC659A8FA3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D945640A-9D89-C68C-8F0B-B91BC0BF1B51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470855C5-C525-4E53-C622-0A441CBEBE6D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2B3CB2-39D1-B925-1C2E-4A88EECDDC23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759058E7-EFAB-9081-66F8-D0AD1E27AFC5}"/>
              </a:ext>
            </a:extLst>
          </p:cNvPr>
          <p:cNvSpPr/>
          <p:nvPr/>
        </p:nvSpPr>
        <p:spPr>
          <a:xfrm>
            <a:off x="374904" y="1219320"/>
            <a:ext cx="8567208" cy="520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Nos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resolvers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é feita 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rpc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via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gRPC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 Cada chamada recebe o “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channel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” do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gRPC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 para não ser necessária uma nova conexão e podem ou não receber passar parâmetros extra consoante o definido no proto.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A94CF883-76AF-DF98-D5E0-96254540A7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878" y="1211895"/>
            <a:ext cx="6271524" cy="34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64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A1F7-9565-BF2E-2248-A6C9831A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76C48168-2CDD-D9F9-0AA1-757FB81A38BE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3E7DEB90-9AFF-7DBE-0927-5A0493EF8DEF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38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4E9DA81A-1669-6C0E-53C9-2D8E1315EF45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7 – BI </a:t>
            </a:r>
            <a:r>
              <a:rPr lang="pt-PT" sz="2000" b="1" u="none" strike="noStrike" noProof="0" dirty="0" err="1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Service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69C4CA40-5CE3-16A4-7741-EB019D63B5F7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D3B7BF05-5F45-8DA5-F405-E78117CF16F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64CEE9D3-597F-EE01-70CC-BB471ADEAE59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0B4CA4AB-324C-0BE5-558A-B6DBFF7DD62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D8FCEC9D-B2D3-A9E4-4BF9-5D5ABA5388E8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F39D21C2-1C9C-3D08-0A34-59C5692BA775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635EB2C-5E53-1F43-F7C8-9B2A81B68BC7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CB2D5-4A3B-F74D-5C94-30AF7ED1B928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FE3B3F8E-BFEE-84FB-0673-97D321D3B318}"/>
              </a:ext>
            </a:extLst>
          </p:cNvPr>
          <p:cNvSpPr/>
          <p:nvPr/>
        </p:nvSpPr>
        <p:spPr>
          <a:xfrm>
            <a:off x="374904" y="1219320"/>
            <a:ext cx="8567208" cy="520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PT" dirty="0">
                <a:solidFill>
                  <a:srgbClr val="000000"/>
                </a:solidFill>
                <a:latin typeface="Arial"/>
              </a:rPr>
              <a:t>Os dados retornados são normalizados antes de serem retornados ao </a:t>
            </a:r>
            <a:r>
              <a:rPr lang="pt-PT" dirty="0" err="1">
                <a:solidFill>
                  <a:srgbClr val="000000"/>
                </a:solidFill>
                <a:latin typeface="Arial"/>
              </a:rPr>
              <a:t>frontend</a:t>
            </a:r>
            <a:r>
              <a:rPr lang="pt-PT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36DF6440-7A59-EB78-BC30-8D5FCDCCBE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4077" y="1069920"/>
            <a:ext cx="4209326" cy="395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58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F697-F116-DBE6-D7E7-0EFAAE85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0">
            <a:extLst>
              <a:ext uri="{FF2B5EF4-FFF2-40B4-BE49-F238E27FC236}">
                <a16:creationId xmlns:a16="http://schemas.microsoft.com/office/drawing/2014/main" id="{D6820AC0-9BEA-C89A-1083-C87D4CFEB142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BC161D27-B914-A65B-3129-585167C54657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7D5ECF20-F99E-42F9-A9F0-89AA25F7E6A7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39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Box 13">
            <a:extLst>
              <a:ext uri="{FF2B5EF4-FFF2-40B4-BE49-F238E27FC236}">
                <a16:creationId xmlns:a16="http://schemas.microsoft.com/office/drawing/2014/main" id="{06876647-F8CA-2D14-7362-A16FD93E9A52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8 – Visualização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F1C2C7A2-6EA1-1AA6-90BF-B83AC64916AA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Imagem 6">
            <a:extLst>
              <a:ext uri="{FF2B5EF4-FFF2-40B4-BE49-F238E27FC236}">
                <a16:creationId xmlns:a16="http://schemas.microsoft.com/office/drawing/2014/main" id="{144039C6-10F3-32A5-BE55-CA05E8E2C9C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>
            <a:extLst>
              <a:ext uri="{FF2B5EF4-FFF2-40B4-BE49-F238E27FC236}">
                <a16:creationId xmlns:a16="http://schemas.microsoft.com/office/drawing/2014/main" id="{B72717C8-AECE-DB83-C290-4DB38EA6562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12">
            <a:extLst>
              <a:ext uri="{FF2B5EF4-FFF2-40B4-BE49-F238E27FC236}">
                <a16:creationId xmlns:a16="http://schemas.microsoft.com/office/drawing/2014/main" id="{DFF02B39-8C78-2E8A-06E7-6F231D3F9834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ângulo 19">
            <a:extLst>
              <a:ext uri="{FF2B5EF4-FFF2-40B4-BE49-F238E27FC236}">
                <a16:creationId xmlns:a16="http://schemas.microsoft.com/office/drawing/2014/main" id="{9F0552E8-E63C-43ED-8056-00C0F9435C1B}"/>
              </a:ext>
            </a:extLst>
          </p:cNvPr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m 4">
            <a:extLst>
              <a:ext uri="{FF2B5EF4-FFF2-40B4-BE49-F238E27FC236}">
                <a16:creationId xmlns:a16="http://schemas.microsoft.com/office/drawing/2014/main" id="{9369A619-CD01-3F1A-87A3-72BC255BBD68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22C6BA06-87D1-B551-CB17-5B107B92C0DD}"/>
              </a:ext>
            </a:extLst>
          </p:cNvPr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3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D5D070-1A0A-4580-2DAC-5597EE43576C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</a:t>
            </a:r>
            <a:r>
              <a:rPr lang="pt-PT" sz="900" b="1" noProof="0" dirty="0">
                <a:solidFill>
                  <a:schemeClr val="dk1"/>
                </a:solidFill>
                <a:latin typeface="Arial"/>
                <a:ea typeface="Arial"/>
              </a:rPr>
              <a:t>3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A31DF675-31E7-2227-C234-02D49EDCDF60}"/>
              </a:ext>
            </a:extLst>
          </p:cNvPr>
          <p:cNvSpPr/>
          <p:nvPr/>
        </p:nvSpPr>
        <p:spPr>
          <a:xfrm>
            <a:off x="374904" y="1219320"/>
            <a:ext cx="8567208" cy="520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sz="1400" dirty="0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  <a:spcBef>
                <a:spcPts val="400"/>
              </a:spcBef>
              <a:tabLst>
                <a:tab pos="0" algn="l"/>
              </a:tabLst>
            </a:pPr>
            <a:endParaRPr lang="pt-PT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1674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89E3-B4BF-958A-8781-23F76407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Box 9">
            <a:extLst>
              <a:ext uri="{FF2B5EF4-FFF2-40B4-BE49-F238E27FC236}">
                <a16:creationId xmlns:a16="http://schemas.microsoft.com/office/drawing/2014/main" id="{F97D8A0F-15D7-D708-3378-DF4C16F0D40D}"/>
              </a:ext>
            </a:extLst>
          </p:cNvPr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4" name="Rectangle 13">
            <a:extLst>
              <a:ext uri="{FF2B5EF4-FFF2-40B4-BE49-F238E27FC236}">
                <a16:creationId xmlns:a16="http://schemas.microsoft.com/office/drawing/2014/main" id="{C11038FB-DD09-49B6-0480-6CCE5922E31D}"/>
              </a:ext>
            </a:extLst>
          </p:cNvPr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4D23D0D8-AE2B-4EAF-B1FA-15E0EF55D8A2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40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Box 11">
            <a:extLst>
              <a:ext uri="{FF2B5EF4-FFF2-40B4-BE49-F238E27FC236}">
                <a16:creationId xmlns:a16="http://schemas.microsoft.com/office/drawing/2014/main" id="{7A114C38-1D07-7F69-D8A5-6FC4B840F24B}"/>
              </a:ext>
            </a:extLst>
          </p:cNvPr>
          <p:cNvSpPr/>
          <p:nvPr/>
        </p:nvSpPr>
        <p:spPr>
          <a:xfrm>
            <a:off x="306360" y="557280"/>
            <a:ext cx="6981120" cy="39865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Noto Sans CJK SC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8 - Conclusão</a:t>
            </a:r>
            <a:endParaRPr lang="pt-PT" sz="200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Line 4">
            <a:extLst>
              <a:ext uri="{FF2B5EF4-FFF2-40B4-BE49-F238E27FC236}">
                <a16:creationId xmlns:a16="http://schemas.microsoft.com/office/drawing/2014/main" id="{A1A0AC05-74B6-D8DB-9300-A0C1C74F054A}"/>
              </a:ext>
            </a:extLst>
          </p:cNvPr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28" name="Imagem 21">
            <a:extLst>
              <a:ext uri="{FF2B5EF4-FFF2-40B4-BE49-F238E27FC236}">
                <a16:creationId xmlns:a16="http://schemas.microsoft.com/office/drawing/2014/main" id="{F521ED27-4282-A28E-F54D-74137F5B276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9" name="Imagem 22">
            <a:extLst>
              <a:ext uri="{FF2B5EF4-FFF2-40B4-BE49-F238E27FC236}">
                <a16:creationId xmlns:a16="http://schemas.microsoft.com/office/drawing/2014/main" id="{FC516115-F397-01E3-5C5C-B7EF147BE58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Imagem 23">
            <a:extLst>
              <a:ext uri="{FF2B5EF4-FFF2-40B4-BE49-F238E27FC236}">
                <a16:creationId xmlns:a16="http://schemas.microsoft.com/office/drawing/2014/main" id="{8E82CB88-8BB7-D635-AE07-12194221E84B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Rectângulo 4">
            <a:extLst>
              <a:ext uri="{FF2B5EF4-FFF2-40B4-BE49-F238E27FC236}">
                <a16:creationId xmlns:a16="http://schemas.microsoft.com/office/drawing/2014/main" id="{1171D3B6-289B-56F3-1CC9-7AFDD4F62DB3}"/>
              </a:ext>
            </a:extLst>
          </p:cNvPr>
          <p:cNvSpPr/>
          <p:nvPr/>
        </p:nvSpPr>
        <p:spPr>
          <a:xfrm>
            <a:off x="5535720" y="552960"/>
            <a:ext cx="350460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m 24">
            <a:extLst>
              <a:ext uri="{FF2B5EF4-FFF2-40B4-BE49-F238E27FC236}">
                <a16:creationId xmlns:a16="http://schemas.microsoft.com/office/drawing/2014/main" id="{4B2603EE-FFE2-A73F-BC6F-940CB290E6EE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Subtítulo 5">
            <a:extLst>
              <a:ext uri="{FF2B5EF4-FFF2-40B4-BE49-F238E27FC236}">
                <a16:creationId xmlns:a16="http://schemas.microsoft.com/office/drawing/2014/main" id="{AE3FDFB0-ED91-C6F8-050C-FC3160BCFFA0}"/>
              </a:ext>
            </a:extLst>
          </p:cNvPr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2B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Box 12">
            <a:extLst>
              <a:ext uri="{FF2B5EF4-FFF2-40B4-BE49-F238E27FC236}">
                <a16:creationId xmlns:a16="http://schemas.microsoft.com/office/drawing/2014/main" id="{19B18063-B950-9EC9-B06C-712E244F9305}"/>
              </a:ext>
            </a:extLst>
          </p:cNvPr>
          <p:cNvSpPr/>
          <p:nvPr/>
        </p:nvSpPr>
        <p:spPr>
          <a:xfrm>
            <a:off x="511200" y="75240"/>
            <a:ext cx="613800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2B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Marcador de Posição de Conteúdo 2">
            <a:extLst>
              <a:ext uri="{FF2B5EF4-FFF2-40B4-BE49-F238E27FC236}">
                <a16:creationId xmlns:a16="http://schemas.microsoft.com/office/drawing/2014/main" id="{FD1690ED-6651-653B-26EB-ECC050985FAD}"/>
              </a:ext>
            </a:extLst>
          </p:cNvPr>
          <p:cNvSpPr/>
          <p:nvPr/>
        </p:nvSpPr>
        <p:spPr>
          <a:xfrm>
            <a:off x="457560" y="1270980"/>
            <a:ext cx="8582760" cy="49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343080" indent="-343080" algn="just">
              <a:lnSpc>
                <a:spcPct val="2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endParaRPr lang="pt-PT" sz="2000" noProof="0" dirty="0">
              <a:solidFill>
                <a:schemeClr val="dk1"/>
              </a:solidFill>
              <a:latin typeface="Arial"/>
            </a:endParaRPr>
          </a:p>
          <a:p>
            <a:pPr marL="343080" indent="-343080" algn="just">
              <a:lnSpc>
                <a:spcPct val="2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endParaRPr lang="pt-PT" sz="2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720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Box 13"/>
          <p:cNvSpPr/>
          <p:nvPr/>
        </p:nvSpPr>
        <p:spPr>
          <a:xfrm>
            <a:off x="306360" y="557280"/>
            <a:ext cx="6981120" cy="3992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PT" sz="20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</a:rPr>
              <a:t>■</a:t>
            </a:r>
            <a:r>
              <a:rPr lang="pt-PT" sz="20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</a:rPr>
              <a:t> Bibliografia e Referências Web </a:t>
            </a: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Line 15"/>
          <p:cNvSpPr/>
          <p:nvPr/>
        </p:nvSpPr>
        <p:spPr>
          <a:xfrm>
            <a:off x="250560" y="0"/>
            <a:ext cx="360" cy="765000"/>
          </a:xfrm>
          <a:prstGeom prst="line">
            <a:avLst/>
          </a:prstGeom>
          <a:ln w="254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5" name="Content Placeholder 2"/>
          <p:cNvSpPr/>
          <p:nvPr/>
        </p:nvSpPr>
        <p:spPr>
          <a:xfrm>
            <a:off x="152460" y="1119888"/>
            <a:ext cx="8838360" cy="525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pt-PT" sz="1400" noProof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■</a:t>
            </a:r>
            <a:endParaRPr lang="pt-PT" sz="16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spcBef>
                <a:spcPts val="400"/>
              </a:spcBef>
            </a:pPr>
            <a:endParaRPr lang="pt-PT" sz="2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Imagem 14"/>
          <p:cNvPicPr/>
          <p:nvPr/>
        </p:nvPicPr>
        <p:blipFill>
          <a:blip r:embed="rId3"/>
          <a:stretch/>
        </p:blipFill>
        <p:spPr>
          <a:xfrm>
            <a:off x="101160" y="904320"/>
            <a:ext cx="901332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Rectângulo 19"/>
          <p:cNvSpPr/>
          <p:nvPr/>
        </p:nvSpPr>
        <p:spPr>
          <a:xfrm>
            <a:off x="5535720" y="552960"/>
            <a:ext cx="3504600" cy="2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Degree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IN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Informatics</a:t>
            </a:r>
            <a:r>
              <a:rPr lang="pt-PT" sz="1100" b="1" u="none" strike="noStrike" cap="all" noProof="0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 </a:t>
            </a:r>
            <a:r>
              <a:rPr lang="pt-PT" sz="1100" b="1" u="none" strike="noStrike" cap="all" noProof="0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engineering</a:t>
            </a:r>
            <a:endParaRPr lang="pt-PT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m 27"/>
          <p:cNvPicPr/>
          <p:nvPr/>
        </p:nvPicPr>
        <p:blipFill>
          <a:blip r:embed="rId4"/>
          <a:stretch/>
        </p:blipFill>
        <p:spPr>
          <a:xfrm>
            <a:off x="6575400" y="9360"/>
            <a:ext cx="257436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Box 10"/>
          <p:cNvSpPr/>
          <p:nvPr/>
        </p:nvSpPr>
        <p:spPr>
          <a:xfrm>
            <a:off x="8288280" y="6296040"/>
            <a:ext cx="826200" cy="36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901"/>
              </a:spcBef>
            </a:pPr>
            <a:endParaRPr lang="pt-PT" sz="1800" b="0" u="none" strike="noStrike" noProof="0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0" name="Rectangle 11"/>
          <p:cNvSpPr/>
          <p:nvPr/>
        </p:nvSpPr>
        <p:spPr>
          <a:xfrm>
            <a:off x="8327520" y="6496200"/>
            <a:ext cx="936000" cy="259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fld id="{321BD3B8-A906-46C5-9198-87F2FED6E096}" type="slidenum">
              <a:rPr lang="pt-PT" sz="1000" b="0" u="none" strike="noStrike" noProof="0">
                <a:solidFill>
                  <a:schemeClr val="dk1"/>
                </a:solidFill>
                <a:effectLst/>
                <a:uFillTx/>
                <a:latin typeface="Calibri"/>
              </a:rPr>
              <a:t>41</a:t>
            </a:fld>
            <a:r>
              <a:rPr lang="pt-PT" sz="1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 -</a:t>
            </a:r>
            <a:endParaRPr lang="pt-PT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1" name="Imagem 3"/>
          <p:cNvPicPr/>
          <p:nvPr/>
        </p:nvPicPr>
        <p:blipFill>
          <a:blip r:embed="rId5"/>
          <a:stretch/>
        </p:blipFill>
        <p:spPr>
          <a:xfrm>
            <a:off x="0" y="6320160"/>
            <a:ext cx="9143280" cy="2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Imagem 4"/>
          <p:cNvPicPr/>
          <p:nvPr/>
        </p:nvPicPr>
        <p:blipFill>
          <a:blip r:embed="rId6"/>
          <a:stretch/>
        </p:blipFill>
        <p:spPr>
          <a:xfrm>
            <a:off x="237960" y="6488280"/>
            <a:ext cx="545400" cy="19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Subtítulo 2"/>
          <p:cNvSpPr/>
          <p:nvPr/>
        </p:nvSpPr>
        <p:spPr>
          <a:xfrm>
            <a:off x="835920" y="6524640"/>
            <a:ext cx="7697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rmAutofit fontScale="850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@2025, 31394 Filipe Fernandes | 31415 Gonçalo Marques  | </a:t>
            </a:r>
            <a:r>
              <a:rPr lang="pt-PT" sz="900" b="1" u="none" strike="noStrike" noProof="0" dirty="0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Unidade Curricular: INTEGRAÇÃO DE SISTEMAS </a:t>
            </a:r>
            <a:r>
              <a:rPr lang="pt-PT" sz="900" b="0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– Ano Letivo 2025/2026 – </a:t>
            </a:r>
            <a:r>
              <a:rPr lang="pt-PT" sz="900" b="1" u="none" strike="noStrike" noProof="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TP 2B</a:t>
            </a:r>
            <a:endParaRPr lang="pt-PT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Box 21"/>
          <p:cNvSpPr/>
          <p:nvPr/>
        </p:nvSpPr>
        <p:spPr>
          <a:xfrm>
            <a:off x="511200" y="75240"/>
            <a:ext cx="6138000" cy="276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lang="pt-PT" sz="1200" b="1" u="none" strike="noStrike" noProof="0" dirty="0">
                <a:solidFill>
                  <a:srgbClr val="FF3300"/>
                </a:solidFill>
                <a:effectLst/>
                <a:uFillTx/>
                <a:latin typeface="Arial"/>
              </a:rPr>
              <a:t>INTEGRAÇÃO DE SISTEMAS – TP 2B</a:t>
            </a:r>
            <a:endParaRPr lang="pt-PT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Imagem 1"/>
          <p:cNvPicPr/>
          <p:nvPr/>
        </p:nvPicPr>
        <p:blipFill>
          <a:blip r:embed="rId2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PlaceHolder 1"/>
          <p:cNvSpPr>
            <a:spLocks noGrp="1"/>
          </p:cNvSpPr>
          <p:nvPr>
            <p:ph type="subTitle"/>
          </p:nvPr>
        </p:nvSpPr>
        <p:spPr>
          <a:xfrm>
            <a:off x="2000160" y="5867280"/>
            <a:ext cx="514296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pt-PT" sz="1500" b="0" u="none" strike="noStrike" noProof="0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www.ipvc.pt</a:t>
            </a:r>
            <a:endParaRPr lang="pt-PT" sz="15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Imagem 3"/>
          <p:cNvPicPr/>
          <p:nvPr/>
        </p:nvPicPr>
        <p:blipFill>
          <a:blip r:embed="rId3"/>
          <a:stretch/>
        </p:blipFill>
        <p:spPr>
          <a:xfrm>
            <a:off x="2547720" y="3409920"/>
            <a:ext cx="4048200" cy="1005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6070</TotalTime>
  <Words>3048</Words>
  <Application>Microsoft Office PowerPoint</Application>
  <PresentationFormat>Apresentação no Ecrã (4:3)</PresentationFormat>
  <Paragraphs>629</Paragraphs>
  <Slides>42</Slides>
  <Notes>41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42</vt:i4>
      </vt:variant>
    </vt:vector>
  </HeadingPairs>
  <TitlesOfParts>
    <vt:vector size="48" baseType="lpstr">
      <vt:lpstr>Arial</vt:lpstr>
      <vt:lpstr>Calibri</vt:lpstr>
      <vt:lpstr>Symbol</vt:lpstr>
      <vt:lpstr>Times New Roman</vt:lpstr>
      <vt:lpstr>Wingdings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subject/>
  <dc:creator>Jorge Ribeiro</dc:creator>
  <dc:description/>
  <cp:lastModifiedBy>Ricardo Fernandes</cp:lastModifiedBy>
  <cp:revision>240</cp:revision>
  <cp:lastPrinted>2020-09-27T18:04:57Z</cp:lastPrinted>
  <dcterms:created xsi:type="dcterms:W3CDTF">2011-05-31T09:21:51Z</dcterms:created>
  <dcterms:modified xsi:type="dcterms:W3CDTF">2026-01-20T00:31:37Z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Apresentação no Ecrã (4:3)</vt:lpwstr>
  </property>
  <property fmtid="{D5CDD505-2E9C-101B-9397-08002B2CF9AE}" pid="4" name="Slides">
    <vt:i4>28</vt:i4>
  </property>
</Properties>
</file>